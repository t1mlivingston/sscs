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gos" id="{4d928ac8-cb20-3e83-d231-b35dc31164ea}">
          <p14:sldIdLst>
            <p14:sldId id="256"/>
            <p14:sldId id="257"/>
            <p14:sldId id="258"/>
            <p14:sldId id="259"/>
          </p14:sldIdLst>
        </p14:section>
        <p14:section name="Context" id="{06531e7a-e43d-1731-20a5-4418e2300cb4}">
          <p14:sldIdLst>
            <p14:sldId id="260"/>
          </p14:sldIdLst>
        </p14:section>
        <p14:section name="Color" id="{3d335b5b-a489-421e-794c-b8c153c6813d}">
          <p14:sldIdLst>
            <p14:sldId id="261"/>
            <p14:sldId id="262"/>
            <p14:sldId id="263"/>
          </p14:sldIdLst>
        </p14:section>
        <p14:section name="Summary" id="{70306e5d-f68d-bc5a-150a-fd4b3cbca5ce}">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 proposed brand guide for Seminole Science Charter School. Logo artwork by Tim Livingston. Nothing here is approved school branding yet.
The whole guide is set in one font, Montserrat. It is free under the SIL Open Font License and is in Google Slides under Font &gt; More fonts.
All logo PNG files: https://drive.google.com/drive/folders/12I6X4qPKyHAG0oh1OoSHPk0NDSjnXlD_?usp=sharing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LOGO. The circular seal, in two wordings. Same art, different ring text.
Left: "Seminole Science STEM Charter School". This matches the wording on the school's current seal and on the Orlando Science Schools seal.
Right: "Seminole Science Charter School". This matches the school name as used on the website.
One decision for leadership: which wording is official for the seal?
Color note: the seal files use slightly different values than the other logos. The seal samples at navy #003466 and #042B56 with red #D2122A. The stingray marks and long logos sample at navy #012F63 and red #DA152C. Match them in Illustrator before final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LOGOS. Three marks without lettering, for places where the school name already appears or space is tight.
Stingray and circle: the stingray from the seal, without the ring text. Good for icons, social profile images, and spirit wear.
Angled stingray: the stingray at 45 degrees over the circle. More motion. Good for athletics.
Side stingray: the stingray alone, pointing left. Good as a small accent and in the long logos.
Each mark also comes in navy-background and grey-background versions. See the backgrounds slide and the Drive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LOGOS. Two horizontal versions for wide spaces: letterhead, website header, email signatures, banners.
Top: "Seminole Science Charter School STINGRAYS" with the side stingray. The spirit version.
Bottom: "Seminole Science STEM Charter School" with the front-facing stingray. The formal version. Its wording follows whichever seal wording leadership picks.
More long versions are in the Drive folder, including one on a navy background and one that reads "Seminole Science Charter School" with the angled stingray.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LOGOS. The starting point. The existing seal is the main logo in use today. The system logo and our website logo sit on the left. All three are shown exactly as found on seminolescience.org and orlandoscience.org.
These files are small web images and will look soft on a projector.
The Orlando Science Schools site lists six campuses, including Seminole Science. Both the system seal and our current seal read "STEM Charter School".
Ask first: does the system set brand rules we need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 PALETTE. Values are sampled from the files. None are approved print specifications yet.
Stingray Navy #012F63, Stingray Red #DA152C, and Stingray Grey #BEBEBE are sampled from the supplied logo PNGs.
Deep Navy #0D132E and System Blue #315BA9 are sampled from the Orlando Science Schools web logo. Ask the system for official values.
Grey is new in this draft. The logos use it for the circle behind the stingray and as a background option.
Clean-up for the art: the seal files use navy #003466 and #042B56 and red #D2122A. The other logos use #012F63 and #DA152C. Standardize on one navy and one red before final export.
Print values (CMYK, spot) are pending printer and profile verification. No Pantone match is given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 LAYOUTS. One main color scheme, highlighted, plus four alternates. Same stingray every time. Only the circle and background change.
MAIN. Grey circle with a navy ring. It matches the inside of the seal.
Alternates:
1. Red circle. Bolder. Less contrast between the red wing and the red circle.
2. White circle. Cleanest. The circle becomes a navy outline.
3. Navy circle with a red ring. Darkest. The navy wing blends into the circle.
4. On navy. The grey circle version on a navy background, with a white outline.
Each alternate also has navy-background and grey-background files in the Drive folder.
Staff should never recolor a logo themselves. They pick from the approved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BACKGROUNDS. Every mark is drawn for three backgrounds: white, Stingray Navy, and Stingray Grey. The angled stingray is shown here.
On navy and on grey, a white outline keeps the stingray from blending into the background. Use the file made for that background. Do not place the white-background file on a colored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GLANCE. A one-page summary. Everything on it is proposed until leadership signs off.
Logo files (PNG): https://drive.google.com/drive/folders/12I6X4qPKyHAG0oh1OoSHPk0NDSjnXlD_?usp=sharing
Open items:
1. Seal wording: "STEM Charter School" or "Charter School".
2. Match the seal's navy and red to the other logos.
3. Official color values from the system, and print values from the printer.
4. Whether the system sets brand rules we need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rtlCol="0"/>
          <a:lstStyle>
            <a:lvl1pPr algn="l" indent="0" marL="0">
              <a:buNone/>
              <a:defRPr lang="en-US" sz="2800" b="1" dirty="0">
                <a:solidFill>
                  <a:srgbClr val="012F63"/>
                </a:solidFill>
                <a:latin typeface="Montserrat" pitchFamily="34" charset="0"/>
                <a:ea typeface="Montserrat" pitchFamily="34" charset="-122"/>
                <a:cs typeface="Montserrat" pitchFamily="34" charset="-120"/>
              </a:defRPr>
            </a:lvl1pPr>
          </a:lstStyle>
          <a:p>
            <a:pPr algn="l" indent="0" marL="0">
              <a:buNone/>
            </a:pPr>
            <a:r>
              <a:rPr lang="en-US" sz="2800" b="1" dirty="0">
                <a:solidFill>
                  <a:srgbClr val="012F63"/>
                </a:solidFill>
                <a:latin typeface="Montserrat" pitchFamily="34" charset="0"/>
                <a:ea typeface="Montserrat" pitchFamily="34" charset="-122"/>
                <a:cs typeface="Montserrat" pitchFamily="34" charset="-120"/>
              </a:rPr>
              <a:t>Slide title</a:t>
            </a:r>
            <a:endParaRPr lang="en-US" sz="2800" dirty="0"/>
          </a:p>
        </p:txBody>
      </p:sp>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56657A"/>
                </a:solidFill>
                <a:latin typeface="Montserrat"/>
                <a:ea typeface="Montserrat"/>
                <a:cs typeface="Montserra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12F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rtlCol="0"/>
          <a:lstStyle>
            <a:lvl1pPr algn="l" indent="0" marL="0">
              <a:buNone/>
              <a:defRPr lang="en-US" sz="2800" b="1" dirty="0">
                <a:solidFill>
                  <a:srgbClr val="FFFFFF"/>
                </a:solidFill>
                <a:latin typeface="Montserrat" pitchFamily="34" charset="0"/>
                <a:ea typeface="Montserrat" pitchFamily="34" charset="-122"/>
                <a:cs typeface="Montserrat" pitchFamily="34" charset="-120"/>
              </a:defRPr>
            </a:lvl1pPr>
          </a:lstStyle>
          <a:p>
            <a:pPr algn="l" indent="0" marL="0">
              <a:buNone/>
            </a:pPr>
            <a:r>
              <a:rPr lang="en-US" sz="2800" b="1" dirty="0">
                <a:solidFill>
                  <a:srgbClr val="FFFFFF"/>
                </a:solidFill>
                <a:latin typeface="Montserrat" pitchFamily="34" charset="0"/>
                <a:ea typeface="Montserrat" pitchFamily="34" charset="-122"/>
                <a:cs typeface="Montserrat" pitchFamily="34" charset="-120"/>
              </a:rPr>
              <a:t>Slide title</a:t>
            </a:r>
            <a:endParaRPr lang="en-US" sz="2800" dirty="0"/>
          </a:p>
        </p:txBody>
      </p:sp>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C3CEDB"/>
                </a:solidFill>
                <a:latin typeface="Montserrat"/>
                <a:ea typeface="Montserrat"/>
                <a:cs typeface="Montserra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12F6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56657A"/>
                </a:solidFill>
                <a:latin typeface="Montserrat"/>
                <a:ea typeface="Montserrat"/>
                <a:cs typeface="Montserra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rive.google.com/drive/folders/12I6X4qPKyHAG0oh1OoSHPk0NDSjnXlD_?usp=sharing" TargetMode="Externa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1"/>
          <p:cNvSpPr/>
          <p:nvPr/>
        </p:nvSpPr>
        <p:spPr>
          <a:xfrm>
            <a:off x="548640" y="548640"/>
            <a:ext cx="2011680" cy="274320"/>
          </a:xfrm>
          <a:prstGeom prst="roundRect">
            <a:avLst>
              <a:gd name="adj" fmla="val 36667"/>
            </a:avLst>
          </a:prstGeom>
          <a:solidFill>
            <a:schemeClr val="accent2"/>
          </a:solidFill>
          <a:ln w="6350">
            <a:solidFill>
              <a:schemeClr val="accent2"/>
            </a:solidFill>
          </a:ln>
        </p:spPr>
        <p:txBody>
          <a:bodyPr wrap="square" lIns="0" tIns="0" rIns="0" bIns="0" rtlCol="0" anchor="ctr"/>
          <a:lstStyle/>
          <a:p>
            <a:pPr algn="ctr" indent="0" marL="0">
              <a:buNone/>
            </a:pPr>
            <a:r>
              <a:rPr lang="en-US" sz="900" b="1" dirty="0">
                <a:solidFill>
                  <a:schemeClr val="bg1"/>
                </a:solidFill>
                <a:latin typeface="Montserrat" pitchFamily="34" charset="0"/>
                <a:ea typeface="Montserrat" pitchFamily="34" charset="-122"/>
                <a:cs typeface="Montserrat" pitchFamily="34" charset="-120"/>
              </a:rPr>
              <a:t>PROPOSED BRAND GUIDE</a:t>
            </a:r>
            <a:endParaRPr lang="en-US" sz="900" dirty="0"/>
          </a:p>
        </p:txBody>
      </p:sp>
      <p:sp>
        <p:nvSpPr>
          <p:cNvPr id="3" name="Text 2"/>
          <p:cNvSpPr txBox="1"/>
          <p:nvPr/>
        </p:nvSpPr>
        <p:spPr>
          <a:xfrm>
            <a:off x="548640" y="1143000"/>
            <a:ext cx="4206240" cy="1005840"/>
          </a:xfrm>
          <a:prstGeom prst="rect">
            <a:avLst/>
          </a:prstGeom>
          <a:noFill/>
          <a:ln/>
        </p:spPr>
        <p:txBody>
          <a:bodyPr wrap="square" lIns="0" tIns="0" rIns="0" bIns="0" rtlCol="0" anchor="t"/>
          <a:lstStyle/>
          <a:p>
            <a:pPr indent="0" marL="0">
              <a:buNone/>
            </a:pPr>
            <a:r>
              <a:rPr lang="en-US" sz="2700" b="1" dirty="0">
                <a:solidFill>
                  <a:schemeClr val="bg1"/>
                </a:solidFill>
                <a:latin typeface="Montserrat" pitchFamily="34" charset="0"/>
                <a:ea typeface="Montserrat" pitchFamily="34" charset="-122"/>
                <a:cs typeface="Montserrat" pitchFamily="34" charset="-120"/>
              </a:rPr>
              <a:t>SEMINOLE SCIENCE CHARTER SCHOOL</a:t>
            </a:r>
            <a:endParaRPr lang="en-US" sz="2700" dirty="0"/>
          </a:p>
        </p:txBody>
      </p:sp>
      <p:sp>
        <p:nvSpPr>
          <p:cNvPr id="4" name="Text 3"/>
          <p:cNvSpPr txBox="1"/>
          <p:nvPr/>
        </p:nvSpPr>
        <p:spPr>
          <a:xfrm>
            <a:off x="548640" y="2240280"/>
            <a:ext cx="4206240" cy="320040"/>
          </a:xfrm>
          <a:prstGeom prst="rect">
            <a:avLst/>
          </a:prstGeom>
          <a:noFill/>
          <a:ln/>
        </p:spPr>
        <p:txBody>
          <a:bodyPr wrap="square" lIns="0" tIns="0" rIns="0" bIns="0" rtlCol="0" anchor="t"/>
          <a:lstStyle/>
          <a:p>
            <a:pPr indent="0" marL="0">
              <a:buNone/>
            </a:pPr>
            <a:r>
              <a:rPr lang="en-US" sz="1400" dirty="0">
                <a:solidFill>
                  <a:srgbClr val="C3CEDB"/>
                </a:solidFill>
                <a:latin typeface="Montserrat" pitchFamily="34" charset="0"/>
                <a:ea typeface="Montserrat" pitchFamily="34" charset="-122"/>
                <a:cs typeface="Montserrat" pitchFamily="34" charset="-120"/>
              </a:rPr>
              <a:t>HOME OF THE STINGRAYS</a:t>
            </a:r>
            <a:endParaRPr lang="en-US" sz="1400" dirty="0"/>
          </a:p>
        </p:txBody>
      </p:sp>
      <p:sp>
        <p:nvSpPr>
          <p:cNvPr id="5" name="Text 4"/>
          <p:cNvSpPr txBox="1"/>
          <p:nvPr/>
        </p:nvSpPr>
        <p:spPr>
          <a:xfrm>
            <a:off x="548640" y="4297680"/>
            <a:ext cx="4206240" cy="256032"/>
          </a:xfrm>
          <a:prstGeom prst="rect">
            <a:avLst/>
          </a:prstGeom>
          <a:noFill/>
          <a:ln/>
        </p:spPr>
        <p:txBody>
          <a:bodyPr wrap="square" lIns="0" tIns="0" rIns="0" bIns="0" rtlCol="0" anchor="t"/>
          <a:lstStyle/>
          <a:p>
            <a:pPr indent="0" marL="0">
              <a:buNone/>
            </a:pPr>
            <a:r>
              <a:rPr lang="en-US" sz="1000" dirty="0">
                <a:solidFill>
                  <a:srgbClr val="C3CEDB"/>
                </a:solidFill>
                <a:latin typeface="Montserrat" pitchFamily="34" charset="0"/>
                <a:ea typeface="Montserrat" pitchFamily="34" charset="-122"/>
                <a:cs typeface="Montserrat" pitchFamily="34" charset="-120"/>
              </a:rPr>
              <a:t>Prepared by Tim Livingston  |  October 2026</a:t>
            </a:r>
            <a:endParaRPr lang="en-US" sz="1000" dirty="0"/>
          </a:p>
        </p:txBody>
      </p:sp>
      <p:sp>
        <p:nvSpPr>
          <p:cNvPr id="6" name="Logo card 5"/>
          <p:cNvSpPr/>
          <p:nvPr/>
        </p:nvSpPr>
        <p:spPr>
          <a:xfrm>
            <a:off x="4846320" y="502920"/>
            <a:ext cx="3840480" cy="4114800"/>
          </a:xfrm>
          <a:prstGeom prst="roundRect">
            <a:avLst>
              <a:gd name="adj" fmla="val 1905"/>
            </a:avLst>
          </a:prstGeom>
          <a:solidFill>
            <a:schemeClr val="bg1"/>
          </a:solidFill>
          <a:ln w="6350">
            <a:solidFill>
              <a:schemeClr val="bg1"/>
            </a:solidFill>
            <a:prstDash val="solid"/>
          </a:ln>
        </p:spPr>
      </p:sp>
      <p:pic>
        <p:nvPicPr>
          <p:cNvPr id="7" name="Logo 6" descr="Proposed seal: navy and red stingray over a grey circle, ringed by the words Seminole Science STEM Charter School">    </p:cNvPr>
          <p:cNvPicPr>
            <a:picLocks noChangeAspect="1"/>
          </p:cNvPicPr>
          <p:nvPr/>
        </p:nvPicPr>
        <p:blipFill>
          <a:blip r:embed="rId1"/>
          <a:stretch>
            <a:fillRect/>
          </a:stretch>
        </p:blipFill>
        <p:spPr>
          <a:xfrm>
            <a:off x="4892040" y="685800"/>
            <a:ext cx="3749040" cy="3749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rgbClr val="012F63"/>
                </a:solidFill>
                <a:latin typeface="Montserrat" pitchFamily="34" charset="0"/>
                <a:ea typeface="Montserrat" pitchFamily="34" charset="-122"/>
                <a:cs typeface="Montserrat" pitchFamily="34" charset="-120"/>
              </a:rPr>
              <a:t>PRIMARY LOGO</a:t>
            </a:r>
            <a:endParaRPr lang="en-US" sz="2800" dirty="0"/>
          </a:p>
        </p:txBody>
      </p:sp>
      <p:pic>
        <p:nvPicPr>
          <p:cNvPr id="3" name="Logo 7" descr="Proposed seal reading Seminole Science STEM Charter School">    </p:cNvPr>
          <p:cNvPicPr>
            <a:picLocks noChangeAspect="1"/>
          </p:cNvPicPr>
          <p:nvPr/>
        </p:nvPicPr>
        <p:blipFill>
          <a:blip r:embed="rId1"/>
          <a:stretch>
            <a:fillRect/>
          </a:stretch>
        </p:blipFill>
        <p:spPr>
          <a:xfrm>
            <a:off x="822960" y="960120"/>
            <a:ext cx="3291840" cy="3291840"/>
          </a:xfrm>
          <a:prstGeom prst="rect">
            <a:avLst/>
          </a:prstGeom>
        </p:spPr>
      </p:pic>
      <p:pic>
        <p:nvPicPr>
          <p:cNvPr id="4" name="Logo 8" descr="Proposed seal reading Seminole Science Charter School">    </p:cNvPr>
          <p:cNvPicPr>
            <a:picLocks noChangeAspect="1"/>
          </p:cNvPicPr>
          <p:nvPr/>
        </p:nvPicPr>
        <p:blipFill>
          <a:blip r:embed="rId2"/>
          <a:stretch>
            <a:fillRect/>
          </a:stretch>
        </p:blipFill>
        <p:spPr>
          <a:xfrm>
            <a:off x="5029200" y="960120"/>
            <a:ext cx="3291840" cy="3291840"/>
          </a:xfrm>
          <a:prstGeom prst="rect">
            <a:avLst/>
          </a:prstGeom>
        </p:spPr>
      </p:pic>
      <p:sp>
        <p:nvSpPr>
          <p:cNvPr id="5" name="Text 9"/>
          <p:cNvSpPr txBox="1"/>
          <p:nvPr/>
        </p:nvSpPr>
        <p:spPr>
          <a:xfrm>
            <a:off x="822960" y="4279392"/>
            <a:ext cx="3291840" cy="274320"/>
          </a:xfrm>
          <a:prstGeom prst="rect">
            <a:avLst/>
          </a:prstGeom>
          <a:noFill/>
          <a:ln/>
        </p:spPr>
        <p:txBody>
          <a:bodyPr wrap="square" lIns="0" tIns="0" rIns="0" bIns="0" rtlCol="0" anchor="t"/>
          <a:lstStyle/>
          <a:p>
            <a:pPr algn="ctr" indent="0" marL="0">
              <a:buNone/>
            </a:pPr>
            <a:r>
              <a:rPr lang="en-US" sz="1200" b="1" dirty="0">
                <a:solidFill>
                  <a:schemeClr val="tx2"/>
                </a:solidFill>
                <a:latin typeface="Montserrat" pitchFamily="34" charset="0"/>
                <a:ea typeface="Montserrat" pitchFamily="34" charset="-122"/>
                <a:cs typeface="Montserrat" pitchFamily="34" charset="-120"/>
              </a:rPr>
              <a:t>STEM CHARTER SCHOOL</a:t>
            </a:r>
            <a:endParaRPr lang="en-US" sz="1200" dirty="0"/>
          </a:p>
        </p:txBody>
      </p:sp>
      <p:sp>
        <p:nvSpPr>
          <p:cNvPr id="6" name="Text 10"/>
          <p:cNvSpPr txBox="1"/>
          <p:nvPr/>
        </p:nvSpPr>
        <p:spPr>
          <a:xfrm>
            <a:off x="5029200" y="4279392"/>
            <a:ext cx="3291840" cy="274320"/>
          </a:xfrm>
          <a:prstGeom prst="rect">
            <a:avLst/>
          </a:prstGeom>
          <a:noFill/>
          <a:ln/>
        </p:spPr>
        <p:txBody>
          <a:bodyPr wrap="square" lIns="0" tIns="0" rIns="0" bIns="0" rtlCol="0" anchor="t"/>
          <a:lstStyle/>
          <a:p>
            <a:pPr algn="ctr" indent="0" marL="0">
              <a:buNone/>
            </a:pPr>
            <a:r>
              <a:rPr lang="en-US" sz="1200" b="1" dirty="0">
                <a:solidFill>
                  <a:schemeClr val="tx2"/>
                </a:solidFill>
                <a:latin typeface="Montserrat" pitchFamily="34" charset="0"/>
                <a:ea typeface="Montserrat" pitchFamily="34" charset="-122"/>
                <a:cs typeface="Montserrat" pitchFamily="34" charset="-120"/>
              </a:rPr>
              <a:t>CHARTER SCHOOL</a:t>
            </a:r>
            <a:endParaRPr lang="en-US" sz="1200" dirty="0"/>
          </a:p>
        </p:txBody>
      </p:sp>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56657A"/>
                </a:solidFill>
                <a:latin typeface="Montserrat"/>
                <a:ea typeface="Montserrat"/>
                <a:cs typeface="Montserra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rgbClr val="012F63"/>
                </a:solidFill>
                <a:latin typeface="Montserrat" pitchFamily="34" charset="0"/>
                <a:ea typeface="Montserrat" pitchFamily="34" charset="-122"/>
                <a:cs typeface="Montserrat" pitchFamily="34" charset="-120"/>
              </a:rPr>
              <a:t>ALTERNATIVE LOGOS</a:t>
            </a:r>
            <a:endParaRPr lang="en-US" sz="2800" dirty="0"/>
          </a:p>
        </p:txBody>
      </p:sp>
      <p:pic>
        <p:nvPicPr>
          <p:cNvPr id="3" name="Logo 11" descr="Stingray and circle logo">    </p:cNvPr>
          <p:cNvPicPr>
            <a:picLocks noChangeAspect="1"/>
          </p:cNvPicPr>
          <p:nvPr/>
        </p:nvPicPr>
        <p:blipFill>
          <a:blip r:embed="rId1"/>
          <a:stretch>
            <a:fillRect/>
          </a:stretch>
        </p:blipFill>
        <p:spPr>
          <a:xfrm>
            <a:off x="484632" y="1097280"/>
            <a:ext cx="2560320" cy="2560320"/>
          </a:xfrm>
          <a:prstGeom prst="rect">
            <a:avLst/>
          </a:prstGeom>
        </p:spPr>
      </p:pic>
      <p:sp>
        <p:nvSpPr>
          <p:cNvPr id="4" name="Text 12"/>
          <p:cNvSpPr txBox="1"/>
          <p:nvPr/>
        </p:nvSpPr>
        <p:spPr>
          <a:xfrm>
            <a:off x="457200" y="3840480"/>
            <a:ext cx="2624328" cy="274320"/>
          </a:xfrm>
          <a:prstGeom prst="rect">
            <a:avLst/>
          </a:prstGeom>
          <a:noFill/>
          <a:ln/>
        </p:spPr>
        <p:txBody>
          <a:bodyPr wrap="square" lIns="0" tIns="0" rIns="0" bIns="0" rtlCol="0" anchor="t"/>
          <a:lstStyle/>
          <a:p>
            <a:pPr algn="ctr" indent="0" marL="0">
              <a:buNone/>
            </a:pPr>
            <a:r>
              <a:rPr lang="en-US" sz="1200" b="1" dirty="0">
                <a:solidFill>
                  <a:schemeClr val="tx2"/>
                </a:solidFill>
                <a:latin typeface="Montserrat" pitchFamily="34" charset="0"/>
                <a:ea typeface="Montserrat" pitchFamily="34" charset="-122"/>
                <a:cs typeface="Montserrat" pitchFamily="34" charset="-120"/>
              </a:rPr>
              <a:t>STINGRAY AND CIRCLE</a:t>
            </a:r>
            <a:endParaRPr lang="en-US" sz="1200" dirty="0"/>
          </a:p>
        </p:txBody>
      </p:sp>
      <p:pic>
        <p:nvPicPr>
          <p:cNvPr id="5" name="Logo 13" descr="Angled stingray logo">    </p:cNvPr>
          <p:cNvPicPr>
            <a:picLocks noChangeAspect="1"/>
          </p:cNvPicPr>
          <p:nvPr/>
        </p:nvPicPr>
        <p:blipFill>
          <a:blip r:embed="rId2"/>
          <a:stretch>
            <a:fillRect/>
          </a:stretch>
        </p:blipFill>
        <p:spPr>
          <a:xfrm>
            <a:off x="3291840" y="1097280"/>
            <a:ext cx="2560320" cy="2560320"/>
          </a:xfrm>
          <a:prstGeom prst="rect">
            <a:avLst/>
          </a:prstGeom>
        </p:spPr>
      </p:pic>
      <p:sp>
        <p:nvSpPr>
          <p:cNvPr id="6" name="Text 14"/>
          <p:cNvSpPr txBox="1"/>
          <p:nvPr/>
        </p:nvSpPr>
        <p:spPr>
          <a:xfrm>
            <a:off x="3264408" y="3840480"/>
            <a:ext cx="2624328" cy="274320"/>
          </a:xfrm>
          <a:prstGeom prst="rect">
            <a:avLst/>
          </a:prstGeom>
          <a:noFill/>
          <a:ln/>
        </p:spPr>
        <p:txBody>
          <a:bodyPr wrap="square" lIns="0" tIns="0" rIns="0" bIns="0" rtlCol="0" anchor="t"/>
          <a:lstStyle/>
          <a:p>
            <a:pPr algn="ctr" indent="0" marL="0">
              <a:buNone/>
            </a:pPr>
            <a:r>
              <a:rPr lang="en-US" sz="1200" b="1" dirty="0">
                <a:solidFill>
                  <a:schemeClr val="tx2"/>
                </a:solidFill>
                <a:latin typeface="Montserrat" pitchFamily="34" charset="0"/>
                <a:ea typeface="Montserrat" pitchFamily="34" charset="-122"/>
                <a:cs typeface="Montserrat" pitchFamily="34" charset="-120"/>
              </a:rPr>
              <a:t>ANGLED STINGRAY</a:t>
            </a:r>
            <a:endParaRPr lang="en-US" sz="1200" dirty="0"/>
          </a:p>
        </p:txBody>
      </p:sp>
      <p:pic>
        <p:nvPicPr>
          <p:cNvPr id="7" name="Logo 15" descr="Side stingray logo">    </p:cNvPr>
          <p:cNvPicPr>
            <a:picLocks noChangeAspect="1"/>
          </p:cNvPicPr>
          <p:nvPr/>
        </p:nvPicPr>
        <p:blipFill>
          <a:blip r:embed="rId3"/>
          <a:stretch>
            <a:fillRect/>
          </a:stretch>
        </p:blipFill>
        <p:spPr>
          <a:xfrm>
            <a:off x="6099048" y="1097280"/>
            <a:ext cx="2560320" cy="2560320"/>
          </a:xfrm>
          <a:prstGeom prst="rect">
            <a:avLst/>
          </a:prstGeom>
        </p:spPr>
      </p:pic>
      <p:sp>
        <p:nvSpPr>
          <p:cNvPr id="8" name="Text 16"/>
          <p:cNvSpPr txBox="1"/>
          <p:nvPr/>
        </p:nvSpPr>
        <p:spPr>
          <a:xfrm>
            <a:off x="6071616" y="3840480"/>
            <a:ext cx="2624328" cy="274320"/>
          </a:xfrm>
          <a:prstGeom prst="rect">
            <a:avLst/>
          </a:prstGeom>
          <a:noFill/>
          <a:ln/>
        </p:spPr>
        <p:txBody>
          <a:bodyPr wrap="square" lIns="0" tIns="0" rIns="0" bIns="0" rtlCol="0" anchor="t"/>
          <a:lstStyle/>
          <a:p>
            <a:pPr algn="ctr" indent="0" marL="0">
              <a:buNone/>
            </a:pPr>
            <a:r>
              <a:rPr lang="en-US" sz="1200" b="1" dirty="0">
                <a:solidFill>
                  <a:schemeClr val="tx2"/>
                </a:solidFill>
                <a:latin typeface="Montserrat" pitchFamily="34" charset="0"/>
                <a:ea typeface="Montserrat" pitchFamily="34" charset="-122"/>
                <a:cs typeface="Montserrat" pitchFamily="34" charset="-120"/>
              </a:rPr>
              <a:t>SIDE STINGRAY</a:t>
            </a:r>
            <a:endParaRPr lang="en-US" sz="1200" dirty="0"/>
          </a:p>
        </p:txBody>
      </p:sp>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56657A"/>
                </a:solidFill>
                <a:latin typeface="Montserrat"/>
                <a:ea typeface="Montserrat"/>
                <a:cs typeface="Montserra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rgbClr val="FFFFFF"/>
                </a:solidFill>
                <a:latin typeface="Montserrat" pitchFamily="34" charset="0"/>
                <a:ea typeface="Montserrat" pitchFamily="34" charset="-122"/>
                <a:cs typeface="Montserrat" pitchFamily="34" charset="-120"/>
              </a:rPr>
              <a:t>LONG LOGOS</a:t>
            </a:r>
            <a:endParaRPr lang="en-US" sz="2800" dirty="0"/>
          </a:p>
        </p:txBody>
      </p:sp>
      <p:sp>
        <p:nvSpPr>
          <p:cNvPr id="3" name="Long logo card 17"/>
          <p:cNvSpPr/>
          <p:nvPr/>
        </p:nvSpPr>
        <p:spPr>
          <a:xfrm>
            <a:off x="457200" y="1097280"/>
            <a:ext cx="8229600" cy="1600200"/>
          </a:xfrm>
          <a:prstGeom prst="roundRect">
            <a:avLst>
              <a:gd name="adj" fmla="val 6857"/>
            </a:avLst>
          </a:prstGeom>
          <a:solidFill>
            <a:schemeClr val="bg1"/>
          </a:solidFill>
          <a:ln w="6350">
            <a:solidFill>
              <a:schemeClr val="bg1"/>
            </a:solidFill>
            <a:prstDash val="solid"/>
          </a:ln>
        </p:spPr>
      </p:sp>
      <p:pic>
        <p:nvPicPr>
          <p:cNvPr id="4" name="Logo 18" descr="Long logo: side stingray beside Seminole Science Charter School Stingrays">    </p:cNvPr>
          <p:cNvPicPr>
            <a:picLocks noChangeAspect="1"/>
          </p:cNvPicPr>
          <p:nvPr/>
        </p:nvPicPr>
        <p:blipFill>
          <a:blip r:embed="rId1"/>
          <a:stretch>
            <a:fillRect/>
          </a:stretch>
        </p:blipFill>
        <p:spPr>
          <a:xfrm>
            <a:off x="1350013" y="1165860"/>
            <a:ext cx="6443975" cy="1463040"/>
          </a:xfrm>
          <a:prstGeom prst="rect">
            <a:avLst/>
          </a:prstGeom>
        </p:spPr>
      </p:pic>
      <p:sp>
        <p:nvSpPr>
          <p:cNvPr id="5" name="Long logo card 19"/>
          <p:cNvSpPr/>
          <p:nvPr/>
        </p:nvSpPr>
        <p:spPr>
          <a:xfrm>
            <a:off x="457200" y="2880360"/>
            <a:ext cx="8229600" cy="1600200"/>
          </a:xfrm>
          <a:prstGeom prst="roundRect">
            <a:avLst>
              <a:gd name="adj" fmla="val 6857"/>
            </a:avLst>
          </a:prstGeom>
          <a:solidFill>
            <a:schemeClr val="bg1"/>
          </a:solidFill>
          <a:ln w="6350">
            <a:solidFill>
              <a:schemeClr val="bg1"/>
            </a:solidFill>
            <a:prstDash val="solid"/>
          </a:ln>
        </p:spPr>
      </p:sp>
      <p:pic>
        <p:nvPicPr>
          <p:cNvPr id="6" name="Logo 20" descr="Long logo: stingray beside Seminole Science STEM Charter School">    </p:cNvPr>
          <p:cNvPicPr>
            <a:picLocks noChangeAspect="1"/>
          </p:cNvPicPr>
          <p:nvPr/>
        </p:nvPicPr>
        <p:blipFill>
          <a:blip r:embed="rId2"/>
          <a:stretch>
            <a:fillRect/>
          </a:stretch>
        </p:blipFill>
        <p:spPr>
          <a:xfrm>
            <a:off x="1108364" y="2948940"/>
            <a:ext cx="6927273" cy="1463040"/>
          </a:xfrm>
          <a:prstGeom prst="rect">
            <a:avLst/>
          </a:prstGeom>
        </p:spPr>
      </p:pic>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C3CEDB"/>
                </a:solidFill>
                <a:latin typeface="Montserrat"/>
                <a:ea typeface="Montserrat"/>
                <a:cs typeface="Montserra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rgbClr val="012F63"/>
                </a:solidFill>
                <a:latin typeface="Montserrat" pitchFamily="34" charset="0"/>
                <a:ea typeface="Montserrat" pitchFamily="34" charset="-122"/>
                <a:cs typeface="Montserrat" pitchFamily="34" charset="-120"/>
              </a:rPr>
              <a:t>CURRENT LOGOS</a:t>
            </a:r>
            <a:endParaRPr lang="en-US" sz="2800" dirty="0"/>
          </a:p>
        </p:txBody>
      </p:sp>
      <p:sp>
        <p:nvSpPr>
          <p:cNvPr id="3" name="Frame 21"/>
          <p:cNvSpPr/>
          <p:nvPr/>
        </p:nvSpPr>
        <p:spPr>
          <a:xfrm>
            <a:off x="457200" y="1188720"/>
            <a:ext cx="3931920" cy="3200400"/>
          </a:xfrm>
          <a:prstGeom prst="roundRect">
            <a:avLst>
              <a:gd name="adj" fmla="val 1714"/>
            </a:avLst>
          </a:prstGeom>
          <a:solidFill>
            <a:schemeClr val="bg1"/>
          </a:solidFill>
          <a:ln w="9525">
            <a:solidFill>
              <a:schemeClr val="accent5"/>
            </a:solidFill>
            <a:prstDash val="solid"/>
          </a:ln>
        </p:spPr>
      </p:sp>
      <p:sp>
        <p:nvSpPr>
          <p:cNvPr id="4" name="Text 22"/>
          <p:cNvSpPr txBox="1"/>
          <p:nvPr/>
        </p:nvSpPr>
        <p:spPr>
          <a:xfrm>
            <a:off x="640080" y="1371600"/>
            <a:ext cx="3474720" cy="201168"/>
          </a:xfrm>
          <a:prstGeom prst="rect">
            <a:avLst/>
          </a:prstGeom>
          <a:noFill/>
          <a:ln/>
        </p:spPr>
        <p:txBody>
          <a:bodyPr wrap="square" lIns="0" tIns="0" rIns="0" bIns="0" rtlCol="0" anchor="t"/>
          <a:lstStyle/>
          <a:p>
            <a:pPr indent="0" marL="0">
              <a:buNone/>
            </a:pPr>
            <a:r>
              <a:rPr lang="en-US" sz="800" b="1" spc="100" kern="0" dirty="0">
                <a:solidFill>
                  <a:schemeClr val="accent2"/>
                </a:solidFill>
                <a:latin typeface="Montserrat" pitchFamily="34" charset="0"/>
                <a:ea typeface="Montserrat" pitchFamily="34" charset="-122"/>
                <a:cs typeface="Montserrat" pitchFamily="34" charset="-120"/>
              </a:rPr>
              <a:t>OUR SYSTEM</a:t>
            </a:r>
            <a:endParaRPr lang="en-US" sz="800" dirty="0"/>
          </a:p>
        </p:txBody>
      </p:sp>
      <p:pic>
        <p:nvPicPr>
          <p:cNvPr id="5" name="Logo 23" descr="Orlando Science Schools logo">    </p:cNvPr>
          <p:cNvPicPr>
            <a:picLocks noChangeAspect="1"/>
          </p:cNvPicPr>
          <p:nvPr/>
        </p:nvPicPr>
        <p:blipFill>
          <a:blip r:embed="rId1"/>
          <a:stretch>
            <a:fillRect/>
          </a:stretch>
        </p:blipFill>
        <p:spPr>
          <a:xfrm>
            <a:off x="640080" y="1664208"/>
            <a:ext cx="3108960" cy="841248"/>
          </a:xfrm>
          <a:prstGeom prst="rect">
            <a:avLst/>
          </a:prstGeom>
        </p:spPr>
      </p:pic>
      <p:sp>
        <p:nvSpPr>
          <p:cNvPr id="6" name="Text 24"/>
          <p:cNvSpPr txBox="1"/>
          <p:nvPr/>
        </p:nvSpPr>
        <p:spPr>
          <a:xfrm>
            <a:off x="640080" y="2880360"/>
            <a:ext cx="3474720" cy="201168"/>
          </a:xfrm>
          <a:prstGeom prst="rect">
            <a:avLst/>
          </a:prstGeom>
          <a:noFill/>
          <a:ln/>
        </p:spPr>
        <p:txBody>
          <a:bodyPr wrap="square" lIns="0" tIns="0" rIns="0" bIns="0" rtlCol="0" anchor="t"/>
          <a:lstStyle/>
          <a:p>
            <a:pPr indent="0" marL="0">
              <a:buNone/>
            </a:pPr>
            <a:r>
              <a:rPr lang="en-US" sz="800" b="1" spc="100" kern="0" dirty="0">
                <a:solidFill>
                  <a:schemeClr val="accent2"/>
                </a:solidFill>
                <a:latin typeface="Montserrat" pitchFamily="34" charset="0"/>
                <a:ea typeface="Montserrat" pitchFamily="34" charset="-122"/>
                <a:cs typeface="Montserrat" pitchFamily="34" charset="-120"/>
              </a:rPr>
              <a:t>OUR WEBSITE LOGO</a:t>
            </a:r>
            <a:endParaRPr lang="en-US" sz="800" dirty="0"/>
          </a:p>
        </p:txBody>
      </p:sp>
      <p:pic>
        <p:nvPicPr>
          <p:cNvPr id="7" name="Logo 25" descr="Current Seminole Science Charter School website logo">    </p:cNvPr>
          <p:cNvPicPr>
            <a:picLocks noChangeAspect="1"/>
          </p:cNvPicPr>
          <p:nvPr/>
        </p:nvPicPr>
        <p:blipFill>
          <a:blip r:embed="rId2"/>
          <a:stretch>
            <a:fillRect/>
          </a:stretch>
        </p:blipFill>
        <p:spPr>
          <a:xfrm>
            <a:off x="640080" y="3172968"/>
            <a:ext cx="3108960" cy="868680"/>
          </a:xfrm>
          <a:prstGeom prst="rect">
            <a:avLst/>
          </a:prstGeom>
        </p:spPr>
      </p:pic>
      <p:sp>
        <p:nvSpPr>
          <p:cNvPr id="8" name="Frame 26"/>
          <p:cNvSpPr/>
          <p:nvPr/>
        </p:nvSpPr>
        <p:spPr>
          <a:xfrm>
            <a:off x="4572000" y="1188720"/>
            <a:ext cx="4114800" cy="3200400"/>
          </a:xfrm>
          <a:prstGeom prst="roundRect">
            <a:avLst>
              <a:gd name="adj" fmla="val 1714"/>
            </a:avLst>
          </a:prstGeom>
          <a:solidFill>
            <a:schemeClr val="bg1"/>
          </a:solidFill>
          <a:ln w="9525">
            <a:solidFill>
              <a:schemeClr val="accent5"/>
            </a:solidFill>
            <a:prstDash val="solid"/>
          </a:ln>
        </p:spPr>
      </p:sp>
      <p:sp>
        <p:nvSpPr>
          <p:cNvPr id="9" name="Text 27"/>
          <p:cNvSpPr txBox="1"/>
          <p:nvPr/>
        </p:nvSpPr>
        <p:spPr>
          <a:xfrm>
            <a:off x="4754880" y="1371600"/>
            <a:ext cx="3749040" cy="201168"/>
          </a:xfrm>
          <a:prstGeom prst="rect">
            <a:avLst/>
          </a:prstGeom>
          <a:noFill/>
          <a:ln/>
        </p:spPr>
        <p:txBody>
          <a:bodyPr wrap="square" lIns="0" tIns="0" rIns="0" bIns="0" rtlCol="0" anchor="t"/>
          <a:lstStyle/>
          <a:p>
            <a:pPr indent="0" marL="0">
              <a:buNone/>
            </a:pPr>
            <a:r>
              <a:rPr lang="en-US" sz="800" b="1" spc="100" kern="0" dirty="0">
                <a:solidFill>
                  <a:schemeClr val="accent2"/>
                </a:solidFill>
                <a:latin typeface="Montserrat" pitchFamily="34" charset="0"/>
                <a:ea typeface="Montserrat" pitchFamily="34" charset="-122"/>
                <a:cs typeface="Montserrat" pitchFamily="34" charset="-120"/>
              </a:rPr>
              <a:t>OUR MAIN LOGO NOW</a:t>
            </a:r>
            <a:endParaRPr lang="en-US" sz="800" dirty="0"/>
          </a:p>
        </p:txBody>
      </p:sp>
      <p:pic>
        <p:nvPicPr>
          <p:cNvPr id="10" name="Logo 28" descr="Existing circular seal with red molecule, reading Seminole Science STEM Charter School">    </p:cNvPr>
          <p:cNvPicPr>
            <a:picLocks noChangeAspect="1"/>
          </p:cNvPicPr>
          <p:nvPr/>
        </p:nvPicPr>
        <p:blipFill>
          <a:blip r:embed="rId3"/>
          <a:stretch>
            <a:fillRect/>
          </a:stretch>
        </p:blipFill>
        <p:spPr>
          <a:xfrm>
            <a:off x="5349240" y="1691640"/>
            <a:ext cx="2560320" cy="2560320"/>
          </a:xfrm>
          <a:prstGeom prst="rect">
            <a:avLst/>
          </a:prstGeom>
        </p:spPr>
      </p:pic>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56657A"/>
                </a:solidFill>
                <a:latin typeface="Montserrat"/>
                <a:ea typeface="Montserrat"/>
                <a:cs typeface="Montserra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rgbClr val="012F63"/>
                </a:solidFill>
                <a:latin typeface="Montserrat" pitchFamily="34" charset="0"/>
                <a:ea typeface="Montserrat" pitchFamily="34" charset="-122"/>
                <a:cs typeface="Montserrat" pitchFamily="34" charset="-120"/>
              </a:rPr>
              <a:t>COLOR PALETTE</a:t>
            </a:r>
            <a:endParaRPr lang="en-US" sz="2800" dirty="0"/>
          </a:p>
        </p:txBody>
      </p:sp>
      <p:sp>
        <p:nvSpPr>
          <p:cNvPr id="3" name="Swatch Stingray Navy 29"/>
          <p:cNvSpPr/>
          <p:nvPr/>
        </p:nvSpPr>
        <p:spPr>
          <a:xfrm>
            <a:off x="457200" y="1188720"/>
            <a:ext cx="1920240" cy="1234440"/>
          </a:xfrm>
          <a:prstGeom prst="rect">
            <a:avLst/>
          </a:prstGeom>
          <a:solidFill>
            <a:srgbClr val="012F63"/>
          </a:solidFill>
          <a:ln w="9525">
            <a:solidFill>
              <a:srgbClr val="012F63"/>
            </a:solidFill>
            <a:prstDash val="solid"/>
          </a:ln>
        </p:spPr>
      </p:sp>
      <p:sp>
        <p:nvSpPr>
          <p:cNvPr id="4" name="Text 30"/>
          <p:cNvSpPr txBox="1"/>
          <p:nvPr/>
        </p:nvSpPr>
        <p:spPr>
          <a:xfrm>
            <a:off x="548640" y="1280160"/>
            <a:ext cx="1783080" cy="457200"/>
          </a:xfrm>
          <a:prstGeom prst="rect">
            <a:avLst/>
          </a:prstGeom>
          <a:noFill/>
          <a:ln/>
        </p:spPr>
        <p:txBody>
          <a:bodyPr wrap="square" lIns="0" tIns="0" rIns="0" bIns="0" rtlCol="0" anchor="t"/>
          <a:lstStyle/>
          <a:p>
            <a:pPr indent="0" marL="0">
              <a:buNone/>
            </a:pPr>
            <a:r>
              <a:rPr lang="en-US" sz="1000" b="1" dirty="0">
                <a:solidFill>
                  <a:srgbClr val="FFFFFF"/>
                </a:solidFill>
                <a:latin typeface="Montserrat" pitchFamily="34" charset="0"/>
                <a:ea typeface="Montserrat" pitchFamily="34" charset="-122"/>
                <a:cs typeface="Montserrat" pitchFamily="34" charset="-120"/>
              </a:rPr>
              <a:t>STINGRAY NAVY</a:t>
            </a:r>
            <a:endParaRPr lang="en-US" sz="1000" dirty="0"/>
          </a:p>
        </p:txBody>
      </p:sp>
      <p:sp>
        <p:nvSpPr>
          <p:cNvPr id="5" name="Text 31"/>
          <p:cNvSpPr txBox="1"/>
          <p:nvPr/>
        </p:nvSpPr>
        <p:spPr>
          <a:xfrm>
            <a:off x="457200" y="2523744"/>
            <a:ext cx="1847088" cy="731520"/>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#012F63</a:t>
            </a:r>
            <a:endParaRPr lang="en-US" sz="1050" dirty="0"/>
          </a:p>
          <a:p>
            <a:pPr indent="0" marL="0">
              <a:buNone/>
            </a:pPr>
            <a:r>
              <a:rPr lang="en-US" sz="1050" b="1" dirty="0">
                <a:solidFill>
                  <a:schemeClr val="tx2"/>
                </a:solidFill>
                <a:latin typeface="Montserrat" pitchFamily="34" charset="0"/>
                <a:ea typeface="Montserrat" pitchFamily="34" charset="-122"/>
                <a:cs typeface="Montserrat" pitchFamily="34" charset="-120"/>
              </a:rPr>
              <a:t>1, 47, 99</a:t>
            </a:r>
            <a:endParaRPr lang="en-US" sz="1050" dirty="0"/>
          </a:p>
          <a:p>
            <a:pPr indent="0" marL="0">
              <a:buNone/>
            </a:pPr>
            <a:r>
              <a:rPr lang="en-US" sz="750" b="1" dirty="0">
                <a:solidFill>
                  <a:schemeClr val="tx2"/>
                </a:solidFill>
                <a:latin typeface="Montserrat" pitchFamily="34" charset="0"/>
                <a:ea typeface="Montserrat" pitchFamily="34" charset="-122"/>
                <a:cs typeface="Montserrat" pitchFamily="34" charset="-120"/>
              </a:rPr>
              <a:t>STINGRAY ARTWORK</a:t>
            </a:r>
            <a:endParaRPr lang="en-US" sz="1050" dirty="0"/>
          </a:p>
        </p:txBody>
      </p:sp>
      <p:sp>
        <p:nvSpPr>
          <p:cNvPr id="6" name="Swatch Stingray Red 32"/>
          <p:cNvSpPr/>
          <p:nvPr/>
        </p:nvSpPr>
        <p:spPr>
          <a:xfrm>
            <a:off x="2377440" y="1188720"/>
            <a:ext cx="1645920" cy="1234440"/>
          </a:xfrm>
          <a:prstGeom prst="rect">
            <a:avLst/>
          </a:prstGeom>
          <a:solidFill>
            <a:srgbClr val="DA152C"/>
          </a:solidFill>
          <a:ln w="9525">
            <a:solidFill>
              <a:srgbClr val="DA152C"/>
            </a:solidFill>
            <a:prstDash val="solid"/>
          </a:ln>
        </p:spPr>
      </p:sp>
      <p:sp>
        <p:nvSpPr>
          <p:cNvPr id="7" name="Text 33"/>
          <p:cNvSpPr txBox="1"/>
          <p:nvPr/>
        </p:nvSpPr>
        <p:spPr>
          <a:xfrm>
            <a:off x="2468880" y="1280160"/>
            <a:ext cx="1508760" cy="457200"/>
          </a:xfrm>
          <a:prstGeom prst="rect">
            <a:avLst/>
          </a:prstGeom>
          <a:noFill/>
          <a:ln/>
        </p:spPr>
        <p:txBody>
          <a:bodyPr wrap="square" lIns="0" tIns="0" rIns="0" bIns="0" rtlCol="0" anchor="t"/>
          <a:lstStyle/>
          <a:p>
            <a:pPr indent="0" marL="0">
              <a:buNone/>
            </a:pPr>
            <a:r>
              <a:rPr lang="en-US" sz="1000" b="1" dirty="0">
                <a:solidFill>
                  <a:srgbClr val="FFFFFF"/>
                </a:solidFill>
                <a:latin typeface="Montserrat" pitchFamily="34" charset="0"/>
                <a:ea typeface="Montserrat" pitchFamily="34" charset="-122"/>
                <a:cs typeface="Montserrat" pitchFamily="34" charset="-120"/>
              </a:rPr>
              <a:t>STINGRAY RED</a:t>
            </a:r>
            <a:endParaRPr lang="en-US" sz="1000" dirty="0"/>
          </a:p>
        </p:txBody>
      </p:sp>
      <p:sp>
        <p:nvSpPr>
          <p:cNvPr id="8" name="Text 34"/>
          <p:cNvSpPr txBox="1"/>
          <p:nvPr/>
        </p:nvSpPr>
        <p:spPr>
          <a:xfrm>
            <a:off x="2377440" y="2523744"/>
            <a:ext cx="1572768" cy="731520"/>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#DA152C</a:t>
            </a:r>
            <a:endParaRPr lang="en-US" sz="1050" dirty="0"/>
          </a:p>
          <a:p>
            <a:pPr indent="0" marL="0">
              <a:buNone/>
            </a:pPr>
            <a:r>
              <a:rPr lang="en-US" sz="1050" b="1" dirty="0">
                <a:solidFill>
                  <a:schemeClr val="tx2"/>
                </a:solidFill>
                <a:latin typeface="Montserrat" pitchFamily="34" charset="0"/>
                <a:ea typeface="Montserrat" pitchFamily="34" charset="-122"/>
                <a:cs typeface="Montserrat" pitchFamily="34" charset="-120"/>
              </a:rPr>
              <a:t>218, 21, 44</a:t>
            </a:r>
            <a:endParaRPr lang="en-US" sz="1050" dirty="0"/>
          </a:p>
          <a:p>
            <a:pPr indent="0" marL="0">
              <a:buNone/>
            </a:pPr>
            <a:r>
              <a:rPr lang="en-US" sz="750" b="1" dirty="0">
                <a:solidFill>
                  <a:schemeClr val="tx2"/>
                </a:solidFill>
                <a:latin typeface="Montserrat" pitchFamily="34" charset="0"/>
                <a:ea typeface="Montserrat" pitchFamily="34" charset="-122"/>
                <a:cs typeface="Montserrat" pitchFamily="34" charset="-120"/>
              </a:rPr>
              <a:t>STINGRAY ARTWORK</a:t>
            </a:r>
            <a:endParaRPr lang="en-US" sz="1050" dirty="0"/>
          </a:p>
        </p:txBody>
      </p:sp>
      <p:sp>
        <p:nvSpPr>
          <p:cNvPr id="9" name="Swatch Stingray Grey 35"/>
          <p:cNvSpPr/>
          <p:nvPr/>
        </p:nvSpPr>
        <p:spPr>
          <a:xfrm>
            <a:off x="4023360" y="1188720"/>
            <a:ext cx="1371600" cy="1234440"/>
          </a:xfrm>
          <a:prstGeom prst="rect">
            <a:avLst/>
          </a:prstGeom>
          <a:solidFill>
            <a:srgbClr val="BEBEBE"/>
          </a:solidFill>
          <a:ln w="9525">
            <a:solidFill>
              <a:srgbClr val="BEBEBE"/>
            </a:solidFill>
            <a:prstDash val="solid"/>
          </a:ln>
        </p:spPr>
      </p:sp>
      <p:sp>
        <p:nvSpPr>
          <p:cNvPr id="10" name="Text 36"/>
          <p:cNvSpPr txBox="1"/>
          <p:nvPr/>
        </p:nvSpPr>
        <p:spPr>
          <a:xfrm>
            <a:off x="4114800" y="1280160"/>
            <a:ext cx="1234440" cy="457200"/>
          </a:xfrm>
          <a:prstGeom prst="rect">
            <a:avLst/>
          </a:prstGeom>
          <a:noFill/>
          <a:ln/>
        </p:spPr>
        <p:txBody>
          <a:bodyPr wrap="square" lIns="0" tIns="0" rIns="0" bIns="0" rtlCol="0" anchor="t"/>
          <a:lstStyle/>
          <a:p>
            <a:pPr indent="0" marL="0">
              <a:buNone/>
            </a:pPr>
            <a:r>
              <a:rPr lang="en-US" sz="1000" b="1" dirty="0">
                <a:solidFill>
                  <a:srgbClr val="012F63"/>
                </a:solidFill>
                <a:latin typeface="Montserrat" pitchFamily="34" charset="0"/>
                <a:ea typeface="Montserrat" pitchFamily="34" charset="-122"/>
                <a:cs typeface="Montserrat" pitchFamily="34" charset="-120"/>
              </a:rPr>
              <a:t>STINGRAY GREY</a:t>
            </a:r>
            <a:endParaRPr lang="en-US" sz="1000" dirty="0"/>
          </a:p>
        </p:txBody>
      </p:sp>
      <p:sp>
        <p:nvSpPr>
          <p:cNvPr id="11" name="Text 37"/>
          <p:cNvSpPr txBox="1"/>
          <p:nvPr/>
        </p:nvSpPr>
        <p:spPr>
          <a:xfrm>
            <a:off x="4023360" y="2523744"/>
            <a:ext cx="1298448" cy="731520"/>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#BEBEBE</a:t>
            </a:r>
            <a:endParaRPr lang="en-US" sz="1050" dirty="0"/>
          </a:p>
          <a:p>
            <a:pPr indent="0" marL="0">
              <a:buNone/>
            </a:pPr>
            <a:r>
              <a:rPr lang="en-US" sz="1050" b="1" dirty="0">
                <a:solidFill>
                  <a:schemeClr val="tx2"/>
                </a:solidFill>
                <a:latin typeface="Montserrat" pitchFamily="34" charset="0"/>
                <a:ea typeface="Montserrat" pitchFamily="34" charset="-122"/>
                <a:cs typeface="Montserrat" pitchFamily="34" charset="-120"/>
              </a:rPr>
              <a:t>190, 190, 190</a:t>
            </a:r>
            <a:endParaRPr lang="en-US" sz="1050" dirty="0"/>
          </a:p>
          <a:p>
            <a:pPr indent="0" marL="0">
              <a:buNone/>
            </a:pPr>
            <a:r>
              <a:rPr lang="en-US" sz="750" b="1" dirty="0">
                <a:solidFill>
                  <a:schemeClr val="tx2"/>
                </a:solidFill>
                <a:latin typeface="Montserrat" pitchFamily="34" charset="0"/>
                <a:ea typeface="Montserrat" pitchFamily="34" charset="-122"/>
                <a:cs typeface="Montserrat" pitchFamily="34" charset="-120"/>
              </a:rPr>
              <a:t>STINGRAY ARTWORK</a:t>
            </a:r>
            <a:endParaRPr lang="en-US" sz="1050" dirty="0"/>
          </a:p>
        </p:txBody>
      </p:sp>
      <p:sp>
        <p:nvSpPr>
          <p:cNvPr id="12" name="Swatch Deep Navy 38"/>
          <p:cNvSpPr/>
          <p:nvPr/>
        </p:nvSpPr>
        <p:spPr>
          <a:xfrm>
            <a:off x="5394960" y="1188720"/>
            <a:ext cx="1188720" cy="1234440"/>
          </a:xfrm>
          <a:prstGeom prst="rect">
            <a:avLst/>
          </a:prstGeom>
          <a:solidFill>
            <a:srgbClr val="0D132E"/>
          </a:solidFill>
          <a:ln w="9525">
            <a:solidFill>
              <a:srgbClr val="0D132E"/>
            </a:solidFill>
            <a:prstDash val="solid"/>
          </a:ln>
        </p:spPr>
      </p:sp>
      <p:sp>
        <p:nvSpPr>
          <p:cNvPr id="13" name="Text 39"/>
          <p:cNvSpPr txBox="1"/>
          <p:nvPr/>
        </p:nvSpPr>
        <p:spPr>
          <a:xfrm>
            <a:off x="5486400" y="1280160"/>
            <a:ext cx="1051560" cy="457200"/>
          </a:xfrm>
          <a:prstGeom prst="rect">
            <a:avLst/>
          </a:prstGeom>
          <a:noFill/>
          <a:ln/>
        </p:spPr>
        <p:txBody>
          <a:bodyPr wrap="square" lIns="0" tIns="0" rIns="0" bIns="0" rtlCol="0" anchor="t"/>
          <a:lstStyle/>
          <a:p>
            <a:pPr indent="0" marL="0">
              <a:buNone/>
            </a:pPr>
            <a:r>
              <a:rPr lang="en-US" sz="1000" b="1" dirty="0">
                <a:solidFill>
                  <a:srgbClr val="FFFFFF"/>
                </a:solidFill>
                <a:latin typeface="Montserrat" pitchFamily="34" charset="0"/>
                <a:ea typeface="Montserrat" pitchFamily="34" charset="-122"/>
                <a:cs typeface="Montserrat" pitchFamily="34" charset="-120"/>
              </a:rPr>
              <a:t>DEEP NAVY</a:t>
            </a:r>
            <a:endParaRPr lang="en-US" sz="1000" dirty="0"/>
          </a:p>
        </p:txBody>
      </p:sp>
      <p:sp>
        <p:nvSpPr>
          <p:cNvPr id="14" name="Text 40"/>
          <p:cNvSpPr txBox="1"/>
          <p:nvPr/>
        </p:nvSpPr>
        <p:spPr>
          <a:xfrm>
            <a:off x="5394960" y="2523744"/>
            <a:ext cx="1115568" cy="731520"/>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#0D132E</a:t>
            </a:r>
            <a:endParaRPr lang="en-US" sz="1050" dirty="0"/>
          </a:p>
          <a:p>
            <a:pPr indent="0" marL="0">
              <a:buNone/>
            </a:pPr>
            <a:r>
              <a:rPr lang="en-US" sz="1050" b="1" dirty="0">
                <a:solidFill>
                  <a:schemeClr val="tx2"/>
                </a:solidFill>
                <a:latin typeface="Montserrat" pitchFamily="34" charset="0"/>
                <a:ea typeface="Montserrat" pitchFamily="34" charset="-122"/>
                <a:cs typeface="Montserrat" pitchFamily="34" charset="-120"/>
              </a:rPr>
              <a:t>13, 19, 46</a:t>
            </a:r>
            <a:endParaRPr lang="en-US" sz="1050" dirty="0"/>
          </a:p>
          <a:p>
            <a:pPr indent="0" marL="0">
              <a:buNone/>
            </a:pPr>
            <a:r>
              <a:rPr lang="en-US" sz="750" b="1" dirty="0">
                <a:solidFill>
                  <a:schemeClr val="tx2"/>
                </a:solidFill>
                <a:latin typeface="Montserrat" pitchFamily="34" charset="0"/>
                <a:ea typeface="Montserrat" pitchFamily="34" charset="-122"/>
                <a:cs typeface="Montserrat" pitchFamily="34" charset="-120"/>
              </a:rPr>
              <a:t>SYSTEM LOGO</a:t>
            </a:r>
            <a:endParaRPr lang="en-US" sz="1050" dirty="0"/>
          </a:p>
        </p:txBody>
      </p:sp>
      <p:sp>
        <p:nvSpPr>
          <p:cNvPr id="15" name="Swatch System Blue 41"/>
          <p:cNvSpPr/>
          <p:nvPr/>
        </p:nvSpPr>
        <p:spPr>
          <a:xfrm>
            <a:off x="6583680" y="1188720"/>
            <a:ext cx="1097280" cy="1234440"/>
          </a:xfrm>
          <a:prstGeom prst="rect">
            <a:avLst/>
          </a:prstGeom>
          <a:solidFill>
            <a:srgbClr val="315BA9"/>
          </a:solidFill>
          <a:ln w="9525">
            <a:solidFill>
              <a:srgbClr val="315BA9"/>
            </a:solidFill>
            <a:prstDash val="solid"/>
          </a:ln>
        </p:spPr>
      </p:sp>
      <p:sp>
        <p:nvSpPr>
          <p:cNvPr id="16" name="Text 42"/>
          <p:cNvSpPr txBox="1"/>
          <p:nvPr/>
        </p:nvSpPr>
        <p:spPr>
          <a:xfrm>
            <a:off x="6675120" y="1280160"/>
            <a:ext cx="960120" cy="457200"/>
          </a:xfrm>
          <a:prstGeom prst="rect">
            <a:avLst/>
          </a:prstGeom>
          <a:noFill/>
          <a:ln/>
        </p:spPr>
        <p:txBody>
          <a:bodyPr wrap="square" lIns="0" tIns="0" rIns="0" bIns="0" rtlCol="0" anchor="t"/>
          <a:lstStyle/>
          <a:p>
            <a:pPr indent="0" marL="0">
              <a:buNone/>
            </a:pPr>
            <a:r>
              <a:rPr lang="en-US" sz="1000" b="1" dirty="0">
                <a:solidFill>
                  <a:srgbClr val="FFFFFF"/>
                </a:solidFill>
                <a:latin typeface="Montserrat" pitchFamily="34" charset="0"/>
                <a:ea typeface="Montserrat" pitchFamily="34" charset="-122"/>
                <a:cs typeface="Montserrat" pitchFamily="34" charset="-120"/>
              </a:rPr>
              <a:t>SYSTEM BLUE</a:t>
            </a:r>
            <a:endParaRPr lang="en-US" sz="1000" dirty="0"/>
          </a:p>
        </p:txBody>
      </p:sp>
      <p:sp>
        <p:nvSpPr>
          <p:cNvPr id="17" name="Text 43"/>
          <p:cNvSpPr txBox="1"/>
          <p:nvPr/>
        </p:nvSpPr>
        <p:spPr>
          <a:xfrm>
            <a:off x="6583680" y="2523744"/>
            <a:ext cx="1024128" cy="731520"/>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#315BA9</a:t>
            </a:r>
            <a:endParaRPr lang="en-US" sz="1050" dirty="0"/>
          </a:p>
          <a:p>
            <a:pPr indent="0" marL="0">
              <a:buNone/>
            </a:pPr>
            <a:r>
              <a:rPr lang="en-US" sz="1050" b="1" dirty="0">
                <a:solidFill>
                  <a:schemeClr val="tx2"/>
                </a:solidFill>
                <a:latin typeface="Montserrat" pitchFamily="34" charset="0"/>
                <a:ea typeface="Montserrat" pitchFamily="34" charset="-122"/>
                <a:cs typeface="Montserrat" pitchFamily="34" charset="-120"/>
              </a:rPr>
              <a:t>49, 91, 169</a:t>
            </a:r>
            <a:endParaRPr lang="en-US" sz="1050" dirty="0"/>
          </a:p>
          <a:p>
            <a:pPr indent="0" marL="0">
              <a:buNone/>
            </a:pPr>
            <a:r>
              <a:rPr lang="en-US" sz="750" b="1" dirty="0">
                <a:solidFill>
                  <a:schemeClr val="tx2"/>
                </a:solidFill>
                <a:latin typeface="Montserrat" pitchFamily="34" charset="0"/>
                <a:ea typeface="Montserrat" pitchFamily="34" charset="-122"/>
                <a:cs typeface="Montserrat" pitchFamily="34" charset="-120"/>
              </a:rPr>
              <a:t>SYSTEM LOGO</a:t>
            </a:r>
            <a:endParaRPr lang="en-US" sz="1050" dirty="0"/>
          </a:p>
        </p:txBody>
      </p:sp>
      <p:sp>
        <p:nvSpPr>
          <p:cNvPr id="18" name="Swatch White 44"/>
          <p:cNvSpPr/>
          <p:nvPr/>
        </p:nvSpPr>
        <p:spPr>
          <a:xfrm>
            <a:off x="7680960" y="1188720"/>
            <a:ext cx="1005840" cy="1234440"/>
          </a:xfrm>
          <a:prstGeom prst="rect">
            <a:avLst/>
          </a:prstGeom>
          <a:solidFill>
            <a:srgbClr val="FFFFFF"/>
          </a:solidFill>
          <a:ln w="9525">
            <a:solidFill>
              <a:srgbClr val="C3CEDB"/>
            </a:solidFill>
            <a:prstDash val="solid"/>
          </a:ln>
        </p:spPr>
      </p:sp>
      <p:sp>
        <p:nvSpPr>
          <p:cNvPr id="19" name="Text 45"/>
          <p:cNvSpPr txBox="1"/>
          <p:nvPr/>
        </p:nvSpPr>
        <p:spPr>
          <a:xfrm>
            <a:off x="7772400" y="1280160"/>
            <a:ext cx="868680" cy="457200"/>
          </a:xfrm>
          <a:prstGeom prst="rect">
            <a:avLst/>
          </a:prstGeom>
          <a:noFill/>
          <a:ln/>
        </p:spPr>
        <p:txBody>
          <a:bodyPr wrap="square" lIns="0" tIns="0" rIns="0" bIns="0" rtlCol="0" anchor="t"/>
          <a:lstStyle/>
          <a:p>
            <a:pPr indent="0" marL="0">
              <a:buNone/>
            </a:pPr>
            <a:r>
              <a:rPr lang="en-US" sz="1000" b="1" dirty="0">
                <a:solidFill>
                  <a:srgbClr val="012F63"/>
                </a:solidFill>
                <a:latin typeface="Montserrat" pitchFamily="34" charset="0"/>
                <a:ea typeface="Montserrat" pitchFamily="34" charset="-122"/>
                <a:cs typeface="Montserrat" pitchFamily="34" charset="-120"/>
              </a:rPr>
              <a:t>WHITE</a:t>
            </a:r>
            <a:endParaRPr lang="en-US" sz="1000" dirty="0"/>
          </a:p>
        </p:txBody>
      </p:sp>
      <p:sp>
        <p:nvSpPr>
          <p:cNvPr id="20" name="Text 46"/>
          <p:cNvSpPr txBox="1"/>
          <p:nvPr/>
        </p:nvSpPr>
        <p:spPr>
          <a:xfrm>
            <a:off x="7680960" y="2523744"/>
            <a:ext cx="932688" cy="731520"/>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#FFFFFF</a:t>
            </a:r>
            <a:endParaRPr lang="en-US" sz="1050" dirty="0"/>
          </a:p>
          <a:p>
            <a:pPr indent="0" marL="0">
              <a:buNone/>
            </a:pPr>
            <a:r>
              <a:rPr lang="en-US" sz="1050" b="1" dirty="0">
                <a:solidFill>
                  <a:schemeClr val="tx2"/>
                </a:solidFill>
                <a:latin typeface="Montserrat" pitchFamily="34" charset="0"/>
                <a:ea typeface="Montserrat" pitchFamily="34" charset="-122"/>
                <a:cs typeface="Montserrat" pitchFamily="34" charset="-120"/>
              </a:rPr>
              <a:t>255, 255, 255</a:t>
            </a:r>
            <a:endParaRPr lang="en-US" sz="1050" dirty="0"/>
          </a:p>
          <a:p>
            <a:pPr indent="0" marL="0">
              <a:buNone/>
            </a:pPr>
            <a:endParaRPr lang="en-US" sz="1050" dirty="0"/>
          </a:p>
        </p:txBody>
      </p:sp>
      <p:sp>
        <p:nvSpPr>
          <p:cNvPr id="21" name="Card 47"/>
          <p:cNvSpPr/>
          <p:nvPr/>
        </p:nvSpPr>
        <p:spPr>
          <a:xfrm>
            <a:off x="457200" y="3401568"/>
            <a:ext cx="8229600" cy="914400"/>
          </a:xfrm>
          <a:prstGeom prst="roundRect">
            <a:avLst>
              <a:gd name="adj" fmla="val 6000"/>
            </a:avLst>
          </a:prstGeom>
          <a:solidFill>
            <a:schemeClr val="bg2"/>
          </a:solidFill>
          <a:ln w="6350">
            <a:solidFill>
              <a:schemeClr val="bg2"/>
            </a:solidFill>
            <a:prstDash val="solid"/>
          </a:ln>
        </p:spPr>
      </p:sp>
      <p:sp>
        <p:nvSpPr>
          <p:cNvPr id="22" name="Text 48"/>
          <p:cNvSpPr txBox="1"/>
          <p:nvPr/>
        </p:nvSpPr>
        <p:spPr>
          <a:xfrm>
            <a:off x="640080" y="3511296"/>
            <a:ext cx="7863840" cy="256032"/>
          </a:xfrm>
          <a:prstGeom prst="rect">
            <a:avLst/>
          </a:prstGeom>
          <a:noFill/>
          <a:ln/>
        </p:spPr>
        <p:txBody>
          <a:bodyPr wrap="square" lIns="0" tIns="0" rIns="0" bIns="0" rtlCol="0" anchor="t"/>
          <a:lstStyle/>
          <a:p>
            <a:pPr indent="0" marL="0">
              <a:buNone/>
            </a:pPr>
            <a:r>
              <a:rPr lang="en-US" sz="1150" b="1" dirty="0">
                <a:solidFill>
                  <a:schemeClr val="tx2"/>
                </a:solidFill>
                <a:latin typeface="Montserrat" pitchFamily="34" charset="0"/>
                <a:ea typeface="Montserrat" pitchFamily="34" charset="-122"/>
                <a:cs typeface="Montserrat" pitchFamily="34" charset="-120"/>
              </a:rPr>
              <a:t>NAVY, RED, AND GREY FROM THE STINGRAY. DEEP NAVY FROM THE SYSTEM.</a:t>
            </a:r>
            <a:endParaRPr lang="en-US" sz="1150" dirty="0"/>
          </a:p>
        </p:txBody>
      </p:sp>
      <p:sp>
        <p:nvSpPr>
          <p:cNvPr id="23" name="Text 49"/>
          <p:cNvSpPr txBox="1"/>
          <p:nvPr/>
        </p:nvSpPr>
        <p:spPr>
          <a:xfrm>
            <a:off x="640080" y="3803904"/>
            <a:ext cx="7863840" cy="411480"/>
          </a:xfrm>
          <a:prstGeom prst="rect">
            <a:avLst/>
          </a:prstGeom>
          <a:noFill/>
          <a:ln/>
        </p:spPr>
        <p:txBody>
          <a:bodyPr wrap="square" lIns="0" tIns="0" rIns="0" bIns="0" rtlCol="0" anchor="t"/>
          <a:lstStyle/>
          <a:p>
            <a:pPr indent="0" marL="0">
              <a:buNone/>
            </a:pPr>
            <a:r>
              <a:rPr lang="en-US" sz="1100" b="1" dirty="0">
                <a:solidFill>
                  <a:schemeClr val="tx1"/>
                </a:solidFill>
                <a:latin typeface="Montserrat" pitchFamily="34" charset="0"/>
                <a:ea typeface="Montserrat" pitchFamily="34" charset="-122"/>
                <a:cs typeface="Montserrat" pitchFamily="34" charset="-120"/>
              </a:rPr>
              <a:t>The artwork's two near-identical navies merge into #012F63. Deep Navy comes from the Orlando Science Schools logo.</a:t>
            </a:r>
            <a:endParaRPr lang="en-US" sz="1100" dirty="0"/>
          </a:p>
        </p:txBody>
      </p:sp>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56657A"/>
                </a:solidFill>
                <a:latin typeface="Montserrat"/>
                <a:ea typeface="Montserrat"/>
                <a:cs typeface="Montserra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rgbClr val="012F63"/>
                </a:solidFill>
                <a:latin typeface="Montserrat" pitchFamily="34" charset="0"/>
                <a:ea typeface="Montserrat" pitchFamily="34" charset="-122"/>
                <a:cs typeface="Montserrat" pitchFamily="34" charset="-120"/>
              </a:rPr>
              <a:t>COLOR LAYOUTS</a:t>
            </a:r>
            <a:endParaRPr lang="en-US" sz="2800" dirty="0"/>
          </a:p>
        </p:txBody>
      </p:sp>
      <p:sp>
        <p:nvSpPr>
          <p:cNvPr id="3" name="Main scheme card 50"/>
          <p:cNvSpPr/>
          <p:nvPr/>
        </p:nvSpPr>
        <p:spPr>
          <a:xfrm>
            <a:off x="457200" y="1097280"/>
            <a:ext cx="3840480" cy="3429000"/>
          </a:xfrm>
          <a:prstGeom prst="roundRect">
            <a:avLst>
              <a:gd name="adj" fmla="val 1600"/>
            </a:avLst>
          </a:prstGeom>
          <a:solidFill>
            <a:schemeClr val="bg1"/>
          </a:solidFill>
          <a:ln w="31750">
            <a:solidFill>
              <a:schemeClr val="accent2"/>
            </a:solidFill>
            <a:prstDash val="solid"/>
          </a:ln>
        </p:spPr>
      </p:sp>
      <p:pic>
        <p:nvPicPr>
          <p:cNvPr id="4" name="Logo 51" descr="Main color layout: navy and red stingray over a grey circle">    </p:cNvPr>
          <p:cNvPicPr>
            <a:picLocks noChangeAspect="1"/>
          </p:cNvPicPr>
          <p:nvPr/>
        </p:nvPicPr>
        <p:blipFill>
          <a:blip r:embed="rId1"/>
          <a:stretch>
            <a:fillRect/>
          </a:stretch>
        </p:blipFill>
        <p:spPr>
          <a:xfrm>
            <a:off x="960120" y="1115568"/>
            <a:ext cx="2834640" cy="2834640"/>
          </a:xfrm>
          <a:prstGeom prst="rect">
            <a:avLst/>
          </a:prstGeom>
        </p:spPr>
      </p:pic>
      <p:sp>
        <p:nvSpPr>
          <p:cNvPr id="5" name="Tag 52"/>
          <p:cNvSpPr/>
          <p:nvPr/>
        </p:nvSpPr>
        <p:spPr>
          <a:xfrm>
            <a:off x="640080" y="4087368"/>
            <a:ext cx="731520" cy="219456"/>
          </a:xfrm>
          <a:prstGeom prst="roundRect">
            <a:avLst>
              <a:gd name="adj" fmla="val 45833"/>
            </a:avLst>
          </a:prstGeom>
          <a:solidFill>
            <a:schemeClr val="accent2"/>
          </a:solidFill>
          <a:ln w="6350">
            <a:solidFill>
              <a:schemeClr val="accent2"/>
            </a:solidFill>
          </a:ln>
        </p:spPr>
        <p:txBody>
          <a:bodyPr wrap="square" lIns="0" tIns="0" rIns="0" bIns="0" rtlCol="0" anchor="ctr"/>
          <a:lstStyle/>
          <a:p>
            <a:pPr algn="ctr" indent="0" marL="0">
              <a:buNone/>
            </a:pPr>
            <a:r>
              <a:rPr lang="en-US" sz="800" b="1" dirty="0">
                <a:solidFill>
                  <a:schemeClr val="bg1"/>
                </a:solidFill>
                <a:latin typeface="Montserrat" pitchFamily="34" charset="0"/>
                <a:ea typeface="Montserrat" pitchFamily="34" charset="-122"/>
                <a:cs typeface="Montserrat" pitchFamily="34" charset="-120"/>
              </a:rPr>
              <a:t>MAIN</a:t>
            </a:r>
            <a:endParaRPr lang="en-US" sz="800" dirty="0"/>
          </a:p>
        </p:txBody>
      </p:sp>
      <p:sp>
        <p:nvSpPr>
          <p:cNvPr id="6" name="Text 53"/>
          <p:cNvSpPr txBox="1"/>
          <p:nvPr/>
        </p:nvSpPr>
        <p:spPr>
          <a:xfrm>
            <a:off x="1481328" y="4059936"/>
            <a:ext cx="2651760" cy="274320"/>
          </a:xfrm>
          <a:prstGeom prst="rect">
            <a:avLst/>
          </a:prstGeom>
          <a:noFill/>
          <a:ln/>
        </p:spPr>
        <p:txBody>
          <a:bodyPr wrap="square" lIns="0" tIns="0" rIns="0" bIns="0" rtlCol="0" anchor="ctr"/>
          <a:lstStyle/>
          <a:p>
            <a:pPr indent="0" marL="0">
              <a:buNone/>
            </a:pPr>
            <a:r>
              <a:rPr lang="en-US" sz="1400" b="1" dirty="0">
                <a:solidFill>
                  <a:schemeClr val="tx2"/>
                </a:solidFill>
                <a:latin typeface="Montserrat" pitchFamily="34" charset="0"/>
                <a:ea typeface="Montserrat" pitchFamily="34" charset="-122"/>
                <a:cs typeface="Montserrat" pitchFamily="34" charset="-120"/>
              </a:rPr>
              <a:t>GREY CIRCLE</a:t>
            </a:r>
            <a:endParaRPr lang="en-US" sz="1400" dirty="0"/>
          </a:p>
        </p:txBody>
      </p:sp>
      <p:sp>
        <p:nvSpPr>
          <p:cNvPr id="7" name="Frame 54"/>
          <p:cNvSpPr/>
          <p:nvPr/>
        </p:nvSpPr>
        <p:spPr>
          <a:xfrm>
            <a:off x="4480560" y="1097280"/>
            <a:ext cx="2011680" cy="1627632"/>
          </a:xfrm>
          <a:prstGeom prst="roundRect">
            <a:avLst>
              <a:gd name="adj" fmla="val 3371"/>
            </a:avLst>
          </a:prstGeom>
          <a:solidFill>
            <a:schemeClr val="bg1"/>
          </a:solidFill>
          <a:ln w="9525">
            <a:solidFill>
              <a:schemeClr val="accent5"/>
            </a:solidFill>
            <a:prstDash val="solid"/>
          </a:ln>
        </p:spPr>
      </p:sp>
      <p:pic>
        <p:nvPicPr>
          <p:cNvPr id="8" name="Logo 55" descr="Red circle color layout">    </p:cNvPr>
          <p:cNvPicPr>
            <a:picLocks noChangeAspect="1"/>
          </p:cNvPicPr>
          <p:nvPr/>
        </p:nvPicPr>
        <p:blipFill>
          <a:blip r:embed="rId2"/>
          <a:stretch>
            <a:fillRect/>
          </a:stretch>
        </p:blipFill>
        <p:spPr>
          <a:xfrm>
            <a:off x="4864608" y="1152144"/>
            <a:ext cx="1243584" cy="1243584"/>
          </a:xfrm>
          <a:prstGeom prst="rect">
            <a:avLst/>
          </a:prstGeom>
        </p:spPr>
      </p:pic>
      <p:sp>
        <p:nvSpPr>
          <p:cNvPr id="9" name="Text 56"/>
          <p:cNvSpPr txBox="1"/>
          <p:nvPr/>
        </p:nvSpPr>
        <p:spPr>
          <a:xfrm>
            <a:off x="4480560" y="2414016"/>
            <a:ext cx="2011680" cy="256032"/>
          </a:xfrm>
          <a:prstGeom prst="rect">
            <a:avLst/>
          </a:prstGeom>
          <a:noFill/>
          <a:ln/>
        </p:spPr>
        <p:txBody>
          <a:bodyPr wrap="square" lIns="0" tIns="0" rIns="0" bIns="0" rtlCol="0" anchor="ctr"/>
          <a:lstStyle/>
          <a:p>
            <a:pPr algn="ctr" indent="0" marL="0">
              <a:buNone/>
            </a:pPr>
            <a:r>
              <a:rPr lang="en-US" sz="1000" b="1" dirty="0">
                <a:solidFill>
                  <a:schemeClr val="tx2"/>
                </a:solidFill>
                <a:latin typeface="Montserrat" pitchFamily="34" charset="0"/>
                <a:ea typeface="Montserrat" pitchFamily="34" charset="-122"/>
                <a:cs typeface="Montserrat" pitchFamily="34" charset="-120"/>
              </a:rPr>
              <a:t>RED CIRCLE</a:t>
            </a:r>
            <a:endParaRPr lang="en-US" sz="1000" dirty="0"/>
          </a:p>
        </p:txBody>
      </p:sp>
      <p:sp>
        <p:nvSpPr>
          <p:cNvPr id="10" name="Frame 57"/>
          <p:cNvSpPr/>
          <p:nvPr/>
        </p:nvSpPr>
        <p:spPr>
          <a:xfrm>
            <a:off x="6675120" y="1097280"/>
            <a:ext cx="2011680" cy="1627632"/>
          </a:xfrm>
          <a:prstGeom prst="roundRect">
            <a:avLst>
              <a:gd name="adj" fmla="val 3371"/>
            </a:avLst>
          </a:prstGeom>
          <a:solidFill>
            <a:schemeClr val="bg1"/>
          </a:solidFill>
          <a:ln w="9525">
            <a:solidFill>
              <a:schemeClr val="accent5"/>
            </a:solidFill>
            <a:prstDash val="solid"/>
          </a:ln>
        </p:spPr>
      </p:sp>
      <p:pic>
        <p:nvPicPr>
          <p:cNvPr id="11" name="Logo 58" descr="White circle color layout">    </p:cNvPr>
          <p:cNvPicPr>
            <a:picLocks noChangeAspect="1"/>
          </p:cNvPicPr>
          <p:nvPr/>
        </p:nvPicPr>
        <p:blipFill>
          <a:blip r:embed="rId3"/>
          <a:stretch>
            <a:fillRect/>
          </a:stretch>
        </p:blipFill>
        <p:spPr>
          <a:xfrm>
            <a:off x="7059168" y="1152144"/>
            <a:ext cx="1243584" cy="1243584"/>
          </a:xfrm>
          <a:prstGeom prst="rect">
            <a:avLst/>
          </a:prstGeom>
        </p:spPr>
      </p:pic>
      <p:sp>
        <p:nvSpPr>
          <p:cNvPr id="12" name="Text 59"/>
          <p:cNvSpPr txBox="1"/>
          <p:nvPr/>
        </p:nvSpPr>
        <p:spPr>
          <a:xfrm>
            <a:off x="6675120" y="2414016"/>
            <a:ext cx="2011680" cy="256032"/>
          </a:xfrm>
          <a:prstGeom prst="rect">
            <a:avLst/>
          </a:prstGeom>
          <a:noFill/>
          <a:ln/>
        </p:spPr>
        <p:txBody>
          <a:bodyPr wrap="square" lIns="0" tIns="0" rIns="0" bIns="0" rtlCol="0" anchor="ctr"/>
          <a:lstStyle/>
          <a:p>
            <a:pPr algn="ctr" indent="0" marL="0">
              <a:buNone/>
            </a:pPr>
            <a:r>
              <a:rPr lang="en-US" sz="1000" b="1" dirty="0">
                <a:solidFill>
                  <a:schemeClr val="tx2"/>
                </a:solidFill>
                <a:latin typeface="Montserrat" pitchFamily="34" charset="0"/>
                <a:ea typeface="Montserrat" pitchFamily="34" charset="-122"/>
                <a:cs typeface="Montserrat" pitchFamily="34" charset="-120"/>
              </a:rPr>
              <a:t>WHITE CIRCLE</a:t>
            </a:r>
            <a:endParaRPr lang="en-US" sz="1000" dirty="0"/>
          </a:p>
        </p:txBody>
      </p:sp>
      <p:sp>
        <p:nvSpPr>
          <p:cNvPr id="13" name="Frame 60"/>
          <p:cNvSpPr/>
          <p:nvPr/>
        </p:nvSpPr>
        <p:spPr>
          <a:xfrm>
            <a:off x="4480560" y="2898648"/>
            <a:ext cx="2011680" cy="1627632"/>
          </a:xfrm>
          <a:prstGeom prst="roundRect">
            <a:avLst>
              <a:gd name="adj" fmla="val 3371"/>
            </a:avLst>
          </a:prstGeom>
          <a:solidFill>
            <a:schemeClr val="bg1"/>
          </a:solidFill>
          <a:ln w="9525">
            <a:solidFill>
              <a:schemeClr val="accent5"/>
            </a:solidFill>
            <a:prstDash val="solid"/>
          </a:ln>
        </p:spPr>
      </p:sp>
      <p:pic>
        <p:nvPicPr>
          <p:cNvPr id="14" name="Logo 61" descr="Navy circle color layout">    </p:cNvPr>
          <p:cNvPicPr>
            <a:picLocks noChangeAspect="1"/>
          </p:cNvPicPr>
          <p:nvPr/>
        </p:nvPicPr>
        <p:blipFill>
          <a:blip r:embed="rId4"/>
          <a:stretch>
            <a:fillRect/>
          </a:stretch>
        </p:blipFill>
        <p:spPr>
          <a:xfrm>
            <a:off x="4864608" y="2953512"/>
            <a:ext cx="1243584" cy="1243584"/>
          </a:xfrm>
          <a:prstGeom prst="rect">
            <a:avLst/>
          </a:prstGeom>
        </p:spPr>
      </p:pic>
      <p:sp>
        <p:nvSpPr>
          <p:cNvPr id="15" name="Text 62"/>
          <p:cNvSpPr txBox="1"/>
          <p:nvPr/>
        </p:nvSpPr>
        <p:spPr>
          <a:xfrm>
            <a:off x="4480560" y="4215384"/>
            <a:ext cx="2011680" cy="256032"/>
          </a:xfrm>
          <a:prstGeom prst="rect">
            <a:avLst/>
          </a:prstGeom>
          <a:noFill/>
          <a:ln/>
        </p:spPr>
        <p:txBody>
          <a:bodyPr wrap="square" lIns="0" tIns="0" rIns="0" bIns="0" rtlCol="0" anchor="ctr"/>
          <a:lstStyle/>
          <a:p>
            <a:pPr algn="ctr" indent="0" marL="0">
              <a:buNone/>
            </a:pPr>
            <a:r>
              <a:rPr lang="en-US" sz="1000" b="1" dirty="0">
                <a:solidFill>
                  <a:schemeClr val="tx2"/>
                </a:solidFill>
                <a:latin typeface="Montserrat" pitchFamily="34" charset="0"/>
                <a:ea typeface="Montserrat" pitchFamily="34" charset="-122"/>
                <a:cs typeface="Montserrat" pitchFamily="34" charset="-120"/>
              </a:rPr>
              <a:t>NAVY CIRCLE</a:t>
            </a:r>
            <a:endParaRPr lang="en-US" sz="1000" dirty="0"/>
          </a:p>
        </p:txBody>
      </p:sp>
      <p:sp>
        <p:nvSpPr>
          <p:cNvPr id="16" name="Frame 63"/>
          <p:cNvSpPr/>
          <p:nvPr/>
        </p:nvSpPr>
        <p:spPr>
          <a:xfrm>
            <a:off x="6675120" y="2898648"/>
            <a:ext cx="2011680" cy="1627632"/>
          </a:xfrm>
          <a:prstGeom prst="roundRect">
            <a:avLst>
              <a:gd name="adj" fmla="val 3371"/>
            </a:avLst>
          </a:prstGeom>
          <a:solidFill>
            <a:schemeClr val="bg1"/>
          </a:solidFill>
          <a:ln w="9525">
            <a:solidFill>
              <a:schemeClr val="accent5"/>
            </a:solidFill>
            <a:prstDash val="solid"/>
          </a:ln>
        </p:spPr>
      </p:sp>
      <p:pic>
        <p:nvPicPr>
          <p:cNvPr id="17" name="Logo 64" descr="On navy color layout">    </p:cNvPr>
          <p:cNvPicPr>
            <a:picLocks noChangeAspect="1"/>
          </p:cNvPicPr>
          <p:nvPr/>
        </p:nvPicPr>
        <p:blipFill>
          <a:blip r:embed="rId5"/>
          <a:stretch>
            <a:fillRect/>
          </a:stretch>
        </p:blipFill>
        <p:spPr>
          <a:xfrm>
            <a:off x="7059168" y="2953512"/>
            <a:ext cx="1243584" cy="1243584"/>
          </a:xfrm>
          <a:prstGeom prst="rect">
            <a:avLst/>
          </a:prstGeom>
        </p:spPr>
      </p:pic>
      <p:sp>
        <p:nvSpPr>
          <p:cNvPr id="18" name="Text 65"/>
          <p:cNvSpPr txBox="1"/>
          <p:nvPr/>
        </p:nvSpPr>
        <p:spPr>
          <a:xfrm>
            <a:off x="6675120" y="4215384"/>
            <a:ext cx="2011680" cy="256032"/>
          </a:xfrm>
          <a:prstGeom prst="rect">
            <a:avLst/>
          </a:prstGeom>
          <a:noFill/>
          <a:ln/>
        </p:spPr>
        <p:txBody>
          <a:bodyPr wrap="square" lIns="0" tIns="0" rIns="0" bIns="0" rtlCol="0" anchor="ctr"/>
          <a:lstStyle/>
          <a:p>
            <a:pPr algn="ctr" indent="0" marL="0">
              <a:buNone/>
            </a:pPr>
            <a:r>
              <a:rPr lang="en-US" sz="1000" b="1" dirty="0">
                <a:solidFill>
                  <a:schemeClr val="tx2"/>
                </a:solidFill>
                <a:latin typeface="Montserrat" pitchFamily="34" charset="0"/>
                <a:ea typeface="Montserrat" pitchFamily="34" charset="-122"/>
                <a:cs typeface="Montserrat" pitchFamily="34" charset="-120"/>
              </a:rPr>
              <a:t>ON NAVY</a:t>
            </a:r>
            <a:endParaRPr lang="en-US" sz="1000" dirty="0"/>
          </a:p>
        </p:txBody>
      </p:sp>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56657A"/>
                </a:solidFill>
                <a:latin typeface="Montserrat"/>
                <a:ea typeface="Montserrat"/>
                <a:cs typeface="Montserra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rgbClr val="012F63"/>
                </a:solidFill>
                <a:latin typeface="Montserrat" pitchFamily="34" charset="0"/>
                <a:ea typeface="Montserrat" pitchFamily="34" charset="-122"/>
                <a:cs typeface="Montserrat" pitchFamily="34" charset="-120"/>
              </a:rPr>
              <a:t>BACKGROUNDS</a:t>
            </a:r>
            <a:endParaRPr lang="en-US" sz="2800" dirty="0"/>
          </a:p>
        </p:txBody>
      </p:sp>
      <p:sp>
        <p:nvSpPr>
          <p:cNvPr id="3" name="White background frame 66"/>
          <p:cNvSpPr/>
          <p:nvPr/>
        </p:nvSpPr>
        <p:spPr>
          <a:xfrm>
            <a:off x="484632" y="1097280"/>
            <a:ext cx="2560320" cy="2560320"/>
          </a:xfrm>
          <a:prstGeom prst="rect">
            <a:avLst/>
          </a:prstGeom>
          <a:solidFill>
            <a:schemeClr val="bg1"/>
          </a:solidFill>
          <a:ln w="9525">
            <a:solidFill>
              <a:schemeClr val="accent5"/>
            </a:solidFill>
            <a:prstDash val="solid"/>
          </a:ln>
        </p:spPr>
      </p:sp>
      <p:pic>
        <p:nvPicPr>
          <p:cNvPr id="4" name="Logo 67" descr="Angled stingray and circle on white">    </p:cNvPr>
          <p:cNvPicPr>
            <a:picLocks noChangeAspect="1"/>
          </p:cNvPicPr>
          <p:nvPr/>
        </p:nvPicPr>
        <p:blipFill>
          <a:blip r:embed="rId1"/>
          <a:stretch>
            <a:fillRect/>
          </a:stretch>
        </p:blipFill>
        <p:spPr>
          <a:xfrm>
            <a:off x="484632" y="1097280"/>
            <a:ext cx="2560320" cy="2560320"/>
          </a:xfrm>
          <a:prstGeom prst="rect">
            <a:avLst/>
          </a:prstGeom>
        </p:spPr>
      </p:pic>
      <p:sp>
        <p:nvSpPr>
          <p:cNvPr id="5" name="Text 68"/>
          <p:cNvSpPr txBox="1"/>
          <p:nvPr/>
        </p:nvSpPr>
        <p:spPr>
          <a:xfrm>
            <a:off x="457200" y="3840480"/>
            <a:ext cx="2624328" cy="274320"/>
          </a:xfrm>
          <a:prstGeom prst="rect">
            <a:avLst/>
          </a:prstGeom>
          <a:noFill/>
          <a:ln/>
        </p:spPr>
        <p:txBody>
          <a:bodyPr wrap="square" lIns="0" tIns="0" rIns="0" bIns="0" rtlCol="0" anchor="t"/>
          <a:lstStyle/>
          <a:p>
            <a:pPr algn="ctr" indent="0" marL="0">
              <a:buNone/>
            </a:pPr>
            <a:r>
              <a:rPr lang="en-US" sz="1200" b="1" dirty="0">
                <a:solidFill>
                  <a:schemeClr val="tx2"/>
                </a:solidFill>
                <a:latin typeface="Montserrat" pitchFamily="34" charset="0"/>
                <a:ea typeface="Montserrat" pitchFamily="34" charset="-122"/>
                <a:cs typeface="Montserrat" pitchFamily="34" charset="-120"/>
              </a:rPr>
              <a:t>ON WHITE</a:t>
            </a:r>
            <a:endParaRPr lang="en-US" sz="1200" dirty="0"/>
          </a:p>
        </p:txBody>
      </p:sp>
      <p:pic>
        <p:nvPicPr>
          <p:cNvPr id="6" name="Logo 69" descr="Angled stingray and circle on navy">    </p:cNvPr>
          <p:cNvPicPr>
            <a:picLocks noChangeAspect="1"/>
          </p:cNvPicPr>
          <p:nvPr/>
        </p:nvPicPr>
        <p:blipFill>
          <a:blip r:embed="rId2"/>
          <a:stretch>
            <a:fillRect/>
          </a:stretch>
        </p:blipFill>
        <p:spPr>
          <a:xfrm>
            <a:off x="3291840" y="1097280"/>
            <a:ext cx="2560320" cy="2560320"/>
          </a:xfrm>
          <a:prstGeom prst="rect">
            <a:avLst/>
          </a:prstGeom>
        </p:spPr>
      </p:pic>
      <p:sp>
        <p:nvSpPr>
          <p:cNvPr id="7" name="Text 70"/>
          <p:cNvSpPr txBox="1"/>
          <p:nvPr/>
        </p:nvSpPr>
        <p:spPr>
          <a:xfrm>
            <a:off x="3264408" y="3840480"/>
            <a:ext cx="2624328" cy="274320"/>
          </a:xfrm>
          <a:prstGeom prst="rect">
            <a:avLst/>
          </a:prstGeom>
          <a:noFill/>
          <a:ln/>
        </p:spPr>
        <p:txBody>
          <a:bodyPr wrap="square" lIns="0" tIns="0" rIns="0" bIns="0" rtlCol="0" anchor="t"/>
          <a:lstStyle/>
          <a:p>
            <a:pPr algn="ctr" indent="0" marL="0">
              <a:buNone/>
            </a:pPr>
            <a:r>
              <a:rPr lang="en-US" sz="1200" b="1" dirty="0">
                <a:solidFill>
                  <a:schemeClr val="tx2"/>
                </a:solidFill>
                <a:latin typeface="Montserrat" pitchFamily="34" charset="0"/>
                <a:ea typeface="Montserrat" pitchFamily="34" charset="-122"/>
                <a:cs typeface="Montserrat" pitchFamily="34" charset="-120"/>
              </a:rPr>
              <a:t>ON NAVY</a:t>
            </a:r>
            <a:endParaRPr lang="en-US" sz="1200" dirty="0"/>
          </a:p>
        </p:txBody>
      </p:sp>
      <p:pic>
        <p:nvPicPr>
          <p:cNvPr id="8" name="Logo 71" descr="Angled stingray and circle on grey">    </p:cNvPr>
          <p:cNvPicPr>
            <a:picLocks noChangeAspect="1"/>
          </p:cNvPicPr>
          <p:nvPr/>
        </p:nvPicPr>
        <p:blipFill>
          <a:blip r:embed="rId3"/>
          <a:stretch>
            <a:fillRect/>
          </a:stretch>
        </p:blipFill>
        <p:spPr>
          <a:xfrm>
            <a:off x="6099048" y="1097280"/>
            <a:ext cx="2560320" cy="2560320"/>
          </a:xfrm>
          <a:prstGeom prst="rect">
            <a:avLst/>
          </a:prstGeom>
        </p:spPr>
      </p:pic>
      <p:sp>
        <p:nvSpPr>
          <p:cNvPr id="9" name="Text 72"/>
          <p:cNvSpPr txBox="1"/>
          <p:nvPr/>
        </p:nvSpPr>
        <p:spPr>
          <a:xfrm>
            <a:off x="6071616" y="3840480"/>
            <a:ext cx="2624328" cy="274320"/>
          </a:xfrm>
          <a:prstGeom prst="rect">
            <a:avLst/>
          </a:prstGeom>
          <a:noFill/>
          <a:ln/>
        </p:spPr>
        <p:txBody>
          <a:bodyPr wrap="square" lIns="0" tIns="0" rIns="0" bIns="0" rtlCol="0" anchor="t"/>
          <a:lstStyle/>
          <a:p>
            <a:pPr algn="ctr" indent="0" marL="0">
              <a:buNone/>
            </a:pPr>
            <a:r>
              <a:rPr lang="en-US" sz="1200" b="1" dirty="0">
                <a:solidFill>
                  <a:schemeClr val="tx2"/>
                </a:solidFill>
                <a:latin typeface="Montserrat" pitchFamily="34" charset="0"/>
                <a:ea typeface="Montserrat" pitchFamily="34" charset="-122"/>
                <a:cs typeface="Montserrat" pitchFamily="34" charset="-120"/>
              </a:rPr>
              <a:t>ON GREY</a:t>
            </a:r>
            <a:endParaRPr lang="en-US" sz="1200" dirty="0"/>
          </a:p>
        </p:txBody>
      </p:sp>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56657A"/>
                </a:solidFill>
                <a:latin typeface="Montserrat"/>
                <a:ea typeface="Montserrat"/>
                <a:cs typeface="Montserra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2800" b="1" dirty="0">
                <a:solidFill>
                  <a:srgbClr val="FFFFFF"/>
                </a:solidFill>
                <a:latin typeface="Montserrat" pitchFamily="34" charset="0"/>
                <a:ea typeface="Montserrat" pitchFamily="34" charset="-122"/>
                <a:cs typeface="Montserrat" pitchFamily="34" charset="-120"/>
              </a:rPr>
              <a:t>AT A GLANCE</a:t>
            </a:r>
            <a:endParaRPr lang="en-US" sz="2800" dirty="0"/>
          </a:p>
        </p:txBody>
      </p:sp>
      <p:sp>
        <p:nvSpPr>
          <p:cNvPr id="3" name="Reference card 73"/>
          <p:cNvSpPr/>
          <p:nvPr/>
        </p:nvSpPr>
        <p:spPr>
          <a:xfrm>
            <a:off x="457200" y="1188720"/>
            <a:ext cx="8229600" cy="3291840"/>
          </a:xfrm>
          <a:prstGeom prst="roundRect">
            <a:avLst>
              <a:gd name="adj" fmla="val 1667"/>
            </a:avLst>
          </a:prstGeom>
          <a:solidFill>
            <a:schemeClr val="bg1"/>
          </a:solidFill>
          <a:ln w="6350">
            <a:solidFill>
              <a:schemeClr val="bg1"/>
            </a:solidFill>
            <a:prstDash val="solid"/>
          </a:ln>
        </p:spPr>
      </p:sp>
      <p:sp>
        <p:nvSpPr>
          <p:cNvPr id="4" name="Tag 74"/>
          <p:cNvSpPr/>
          <p:nvPr/>
        </p:nvSpPr>
        <p:spPr>
          <a:xfrm>
            <a:off x="640080" y="1325880"/>
            <a:ext cx="1005840" cy="219456"/>
          </a:xfrm>
          <a:prstGeom prst="roundRect">
            <a:avLst>
              <a:gd name="adj" fmla="val 45833"/>
            </a:avLst>
          </a:prstGeom>
          <a:solidFill>
            <a:schemeClr val="accent2"/>
          </a:solidFill>
          <a:ln w="6350">
            <a:solidFill>
              <a:schemeClr val="accent2"/>
            </a:solidFill>
          </a:ln>
        </p:spPr>
        <p:txBody>
          <a:bodyPr wrap="square" lIns="0" tIns="0" rIns="0" bIns="0" rtlCol="0" anchor="ctr"/>
          <a:lstStyle/>
          <a:p>
            <a:pPr algn="ctr" indent="0" marL="0">
              <a:buNone/>
            </a:pPr>
            <a:r>
              <a:rPr lang="en-US" sz="800" b="1" dirty="0">
                <a:solidFill>
                  <a:schemeClr val="bg1"/>
                </a:solidFill>
                <a:latin typeface="Montserrat" pitchFamily="34" charset="0"/>
                <a:ea typeface="Montserrat" pitchFamily="34" charset="-122"/>
                <a:cs typeface="Montserrat" pitchFamily="34" charset="-120"/>
              </a:rPr>
              <a:t>PROPOSED</a:t>
            </a:r>
            <a:endParaRPr lang="en-US" sz="800" dirty="0"/>
          </a:p>
        </p:txBody>
      </p:sp>
      <p:graphicFrame>
        <p:nvGraphicFramePr>
          <p:cNvPr id="10" name="Reference table 75"/>
          <p:cNvGraphicFramePr>
            <a:graphicFrameLocks noGrp="1"/>
          </p:cNvGraphicFramePr>
          <p:nvPr>
            <p:extLst>
              <p:ext uri="{D42A27DB-BD31-4B8C-83A1-F6EECF244321}">
                <p14:modId xmlns:p14="http://schemas.microsoft.com/office/powerpoint/2010/main" val="1579011935"/>
              </p:ext>
            </p:extLst>
          </p:nvPr>
        </p:nvGraphicFramePr>
        <p:xfrm>
          <a:off x="640080" y="1664208"/>
          <a:ext cx="4297680" cy="914400"/>
        </p:xfrm>
        <a:graphic>
          <a:graphicData uri="http://schemas.openxmlformats.org/drawingml/2006/table">
            <a:tbl>
              <a:tblPr/>
              <a:tblGrid>
                <a:gridCol w="1417320"/>
                <a:gridCol w="2880360"/>
              </a:tblGrid>
              <a:tr h="292608">
                <a:tc>
                  <a:txBody>
                    <a:bodyPr/>
                    <a:lstStyle/>
                    <a:p>
                      <a:pPr indent="0" marL="0">
                        <a:buNone/>
                      </a:pPr>
                      <a:r>
                        <a:rPr lang="en-US" sz="1000" b="1" dirty="0">
                          <a:solidFill>
                            <a:schemeClr val="tx2"/>
                          </a:solidFill>
                          <a:latin typeface="Montserrat" pitchFamily="34" charset="0"/>
                          <a:ea typeface="Montserrat" pitchFamily="34" charset="-122"/>
                          <a:cs typeface="Montserrat" pitchFamily="34" charset="-120"/>
                        </a:rPr>
                        <a:t>NAME</a:t>
                      </a:r>
                      <a:endParaRPr lang="en-US" sz="10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chemeClr val="tx1"/>
                          </a:solidFill>
                          <a:latin typeface="Montserrat" pitchFamily="34" charset="0"/>
                          <a:ea typeface="Montserrat" pitchFamily="34" charset="-122"/>
                          <a:cs typeface="Montserrat" pitchFamily="34" charset="-120"/>
                        </a:rPr>
                        <a:t>Seminole Science Charter School</a:t>
                      </a:r>
                      <a:endParaRPr lang="en-US" sz="11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000" b="1" dirty="0">
                          <a:solidFill>
                            <a:schemeClr val="tx2"/>
                          </a:solidFill>
                          <a:latin typeface="Montserrat" pitchFamily="34" charset="0"/>
                          <a:ea typeface="Montserrat" pitchFamily="34" charset="-122"/>
                          <a:cs typeface="Montserrat" pitchFamily="34" charset="-120"/>
                        </a:rPr>
                        <a:t>MASCOT</a:t>
                      </a:r>
                      <a:endParaRPr lang="en-US" sz="10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chemeClr val="tx1"/>
                          </a:solidFill>
                          <a:latin typeface="Montserrat" pitchFamily="34" charset="0"/>
                          <a:ea typeface="Montserrat" pitchFamily="34" charset="-122"/>
                          <a:cs typeface="Montserrat" pitchFamily="34" charset="-120"/>
                        </a:rPr>
                        <a:t>Stingrays</a:t>
                      </a:r>
                      <a:endParaRPr lang="en-US" sz="11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000" b="1" dirty="0">
                          <a:solidFill>
                            <a:schemeClr val="tx2"/>
                          </a:solidFill>
                          <a:latin typeface="Montserrat" pitchFamily="34" charset="0"/>
                          <a:ea typeface="Montserrat" pitchFamily="34" charset="-122"/>
                          <a:cs typeface="Montserrat" pitchFamily="34" charset="-120"/>
                        </a:rPr>
                        <a:t>SYSTEM</a:t>
                      </a:r>
                      <a:endParaRPr lang="en-US" sz="10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chemeClr val="tx1"/>
                          </a:solidFill>
                          <a:latin typeface="Montserrat" pitchFamily="34" charset="0"/>
                          <a:ea typeface="Montserrat" pitchFamily="34" charset="-122"/>
                          <a:cs typeface="Montserrat" pitchFamily="34" charset="-120"/>
                        </a:rPr>
                        <a:t>Orlando Science Schools</a:t>
                      </a:r>
                      <a:endParaRPr lang="en-US" sz="11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000" b="1" dirty="0">
                          <a:solidFill>
                            <a:schemeClr val="tx2"/>
                          </a:solidFill>
                          <a:latin typeface="Montserrat" pitchFamily="34" charset="0"/>
                          <a:ea typeface="Montserrat" pitchFamily="34" charset="-122"/>
                          <a:cs typeface="Montserrat" pitchFamily="34" charset="-120"/>
                        </a:rPr>
                        <a:t>PRIMARY LOGO</a:t>
                      </a:r>
                      <a:endParaRPr lang="en-US" sz="10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chemeClr val="tx1"/>
                          </a:solidFill>
                          <a:latin typeface="Montserrat" pitchFamily="34" charset="0"/>
                          <a:ea typeface="Montserrat" pitchFamily="34" charset="-122"/>
                          <a:cs typeface="Montserrat" pitchFamily="34" charset="-120"/>
                        </a:rPr>
                        <a:t>Circular seal</a:t>
                      </a:r>
                      <a:endParaRPr lang="en-US" sz="11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000" b="1" dirty="0">
                          <a:solidFill>
                            <a:schemeClr val="tx2"/>
                          </a:solidFill>
                          <a:latin typeface="Montserrat" pitchFamily="34" charset="0"/>
                          <a:ea typeface="Montserrat" pitchFamily="34" charset="-122"/>
                          <a:cs typeface="Montserrat" pitchFamily="34" charset="-120"/>
                        </a:rPr>
                        <a:t>LONG LOGO</a:t>
                      </a:r>
                      <a:endParaRPr lang="en-US" sz="10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chemeClr val="tx1"/>
                          </a:solidFill>
                          <a:latin typeface="Montserrat" pitchFamily="34" charset="0"/>
                          <a:ea typeface="Montserrat" pitchFamily="34" charset="-122"/>
                          <a:cs typeface="Montserrat" pitchFamily="34" charset="-120"/>
                        </a:rPr>
                        <a:t>Stingrays wordmark</a:t>
                      </a:r>
                      <a:endParaRPr lang="en-US" sz="11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000" b="1" dirty="0">
                          <a:solidFill>
                            <a:schemeClr val="tx2"/>
                          </a:solidFill>
                          <a:latin typeface="Montserrat" pitchFamily="34" charset="0"/>
                          <a:ea typeface="Montserrat" pitchFamily="34" charset="-122"/>
                          <a:cs typeface="Montserrat" pitchFamily="34" charset="-120"/>
                        </a:rPr>
                        <a:t>FONT</a:t>
                      </a:r>
                      <a:endParaRPr lang="en-US" sz="10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chemeClr val="tx1"/>
                          </a:solidFill>
                          <a:latin typeface="Montserrat" pitchFamily="34" charset="0"/>
                          <a:ea typeface="Montserrat" pitchFamily="34" charset="-122"/>
                          <a:cs typeface="Montserrat" pitchFamily="34" charset="-120"/>
                        </a:rPr>
                        <a:t>Montserrat</a:t>
                      </a:r>
                      <a:endParaRPr lang="en-US" sz="1100" dirty="0">
                        <a:latin typeface="Montserrat" charset="0"/>
                        <a:ea typeface="Montserrat" charset="0"/>
                        <a:cs typeface="Montserrat" charset="0"/>
                      </a:endParaRPr>
                    </a:p>
                  </a:txBody>
                  <a:tcPr marL="0" marR="508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6" name="Text 76"/>
          <p:cNvSpPr txBox="1"/>
          <p:nvPr/>
        </p:nvSpPr>
        <p:spPr>
          <a:xfrm>
            <a:off x="5120640" y="1371600"/>
            <a:ext cx="3291840" cy="201168"/>
          </a:xfrm>
          <a:prstGeom prst="rect">
            <a:avLst/>
          </a:prstGeom>
          <a:noFill/>
          <a:ln/>
        </p:spPr>
        <p:txBody>
          <a:bodyPr wrap="square" lIns="0" tIns="0" rIns="0" bIns="0" rtlCol="0" anchor="t"/>
          <a:lstStyle/>
          <a:p>
            <a:pPr indent="0" marL="0">
              <a:buNone/>
            </a:pPr>
            <a:r>
              <a:rPr lang="en-US" sz="800" b="1" spc="100" kern="0" dirty="0">
                <a:solidFill>
                  <a:schemeClr val="accent2"/>
                </a:solidFill>
                <a:latin typeface="Montserrat" pitchFamily="34" charset="0"/>
                <a:ea typeface="Montserrat" pitchFamily="34" charset="-122"/>
                <a:cs typeface="Montserrat" pitchFamily="34" charset="-120"/>
              </a:rPr>
              <a:t>COLORS</a:t>
            </a:r>
            <a:endParaRPr lang="en-US" sz="800" dirty="0"/>
          </a:p>
        </p:txBody>
      </p:sp>
      <p:sp>
        <p:nvSpPr>
          <p:cNvPr id="7" name="Chip Stingray Navy 77"/>
          <p:cNvSpPr/>
          <p:nvPr/>
        </p:nvSpPr>
        <p:spPr>
          <a:xfrm>
            <a:off x="5120640" y="1645920"/>
            <a:ext cx="457200" cy="256032"/>
          </a:xfrm>
          <a:prstGeom prst="rect">
            <a:avLst/>
          </a:prstGeom>
          <a:solidFill>
            <a:srgbClr val="012F63"/>
          </a:solidFill>
          <a:ln w="6350">
            <a:solidFill>
              <a:srgbClr val="012F63"/>
            </a:solidFill>
            <a:prstDash val="solid"/>
          </a:ln>
        </p:spPr>
      </p:sp>
      <p:sp>
        <p:nvSpPr>
          <p:cNvPr id="8" name="Text 78"/>
          <p:cNvSpPr txBox="1"/>
          <p:nvPr/>
        </p:nvSpPr>
        <p:spPr>
          <a:xfrm>
            <a:off x="5715000" y="1645920"/>
            <a:ext cx="2834640" cy="256032"/>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STINGRAY NAVY  </a:t>
            </a:r>
            <a:pPr indent="0" marL="0">
              <a:buNone/>
            </a:pPr>
            <a:r>
              <a:rPr lang="en-US" sz="1050" dirty="0">
                <a:solidFill>
                  <a:schemeClr val="tx1"/>
                </a:solidFill>
                <a:latin typeface="Montserrat" pitchFamily="34" charset="0"/>
                <a:ea typeface="Montserrat" pitchFamily="34" charset="-122"/>
                <a:cs typeface="Montserrat" pitchFamily="34" charset="-120"/>
              </a:rPr>
              <a:t>#012F63</a:t>
            </a:r>
            <a:endParaRPr lang="en-US" sz="1050" dirty="0"/>
          </a:p>
        </p:txBody>
      </p:sp>
      <p:sp>
        <p:nvSpPr>
          <p:cNvPr id="9" name="Chip Stingray Red 79"/>
          <p:cNvSpPr/>
          <p:nvPr/>
        </p:nvSpPr>
        <p:spPr>
          <a:xfrm>
            <a:off x="5120640" y="1984248"/>
            <a:ext cx="457200" cy="256032"/>
          </a:xfrm>
          <a:prstGeom prst="rect">
            <a:avLst/>
          </a:prstGeom>
          <a:solidFill>
            <a:srgbClr val="DA152C"/>
          </a:solidFill>
          <a:ln w="6350">
            <a:solidFill>
              <a:srgbClr val="DA152C"/>
            </a:solidFill>
            <a:prstDash val="solid"/>
          </a:ln>
        </p:spPr>
      </p:sp>
      <p:sp>
        <p:nvSpPr>
          <p:cNvPr id="10" name="Text 80"/>
          <p:cNvSpPr txBox="1"/>
          <p:nvPr/>
        </p:nvSpPr>
        <p:spPr>
          <a:xfrm>
            <a:off x="5715000" y="1984248"/>
            <a:ext cx="2834640" cy="256032"/>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STINGRAY RED  </a:t>
            </a:r>
            <a:pPr indent="0" marL="0">
              <a:buNone/>
            </a:pPr>
            <a:r>
              <a:rPr lang="en-US" sz="1050" dirty="0">
                <a:solidFill>
                  <a:schemeClr val="tx1"/>
                </a:solidFill>
                <a:latin typeface="Montserrat" pitchFamily="34" charset="0"/>
                <a:ea typeface="Montserrat" pitchFamily="34" charset="-122"/>
                <a:cs typeface="Montserrat" pitchFamily="34" charset="-120"/>
              </a:rPr>
              <a:t>#DA152C</a:t>
            </a:r>
            <a:endParaRPr lang="en-US" sz="1050" dirty="0"/>
          </a:p>
        </p:txBody>
      </p:sp>
      <p:sp>
        <p:nvSpPr>
          <p:cNvPr id="11" name="Chip Stingray Grey 81"/>
          <p:cNvSpPr/>
          <p:nvPr/>
        </p:nvSpPr>
        <p:spPr>
          <a:xfrm>
            <a:off x="5120640" y="2322576"/>
            <a:ext cx="457200" cy="256032"/>
          </a:xfrm>
          <a:prstGeom prst="rect">
            <a:avLst/>
          </a:prstGeom>
          <a:solidFill>
            <a:srgbClr val="BEBEBE"/>
          </a:solidFill>
          <a:ln w="6350">
            <a:solidFill>
              <a:srgbClr val="BEBEBE"/>
            </a:solidFill>
            <a:prstDash val="solid"/>
          </a:ln>
        </p:spPr>
      </p:sp>
      <p:sp>
        <p:nvSpPr>
          <p:cNvPr id="12" name="Text 82"/>
          <p:cNvSpPr txBox="1"/>
          <p:nvPr/>
        </p:nvSpPr>
        <p:spPr>
          <a:xfrm>
            <a:off x="5715000" y="2322576"/>
            <a:ext cx="2834640" cy="256032"/>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STINGRAY GREY  </a:t>
            </a:r>
            <a:pPr indent="0" marL="0">
              <a:buNone/>
            </a:pPr>
            <a:r>
              <a:rPr lang="en-US" sz="1050" dirty="0">
                <a:solidFill>
                  <a:schemeClr val="tx1"/>
                </a:solidFill>
                <a:latin typeface="Montserrat" pitchFamily="34" charset="0"/>
                <a:ea typeface="Montserrat" pitchFamily="34" charset="-122"/>
                <a:cs typeface="Montserrat" pitchFamily="34" charset="-120"/>
              </a:rPr>
              <a:t>#BEBEBE</a:t>
            </a:r>
            <a:endParaRPr lang="en-US" sz="1050" dirty="0"/>
          </a:p>
        </p:txBody>
      </p:sp>
      <p:sp>
        <p:nvSpPr>
          <p:cNvPr id="13" name="Chip Deep Navy 83"/>
          <p:cNvSpPr/>
          <p:nvPr/>
        </p:nvSpPr>
        <p:spPr>
          <a:xfrm>
            <a:off x="5120640" y="2660904"/>
            <a:ext cx="457200" cy="256032"/>
          </a:xfrm>
          <a:prstGeom prst="rect">
            <a:avLst/>
          </a:prstGeom>
          <a:solidFill>
            <a:srgbClr val="0D132E"/>
          </a:solidFill>
          <a:ln w="6350">
            <a:solidFill>
              <a:srgbClr val="0D132E"/>
            </a:solidFill>
            <a:prstDash val="solid"/>
          </a:ln>
        </p:spPr>
      </p:sp>
      <p:sp>
        <p:nvSpPr>
          <p:cNvPr id="14" name="Text 84"/>
          <p:cNvSpPr txBox="1"/>
          <p:nvPr/>
        </p:nvSpPr>
        <p:spPr>
          <a:xfrm>
            <a:off x="5715000" y="2660904"/>
            <a:ext cx="2834640" cy="256032"/>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DEEP NAVY  </a:t>
            </a:r>
            <a:pPr indent="0" marL="0">
              <a:buNone/>
            </a:pPr>
            <a:r>
              <a:rPr lang="en-US" sz="1050" dirty="0">
                <a:solidFill>
                  <a:schemeClr val="tx1"/>
                </a:solidFill>
                <a:latin typeface="Montserrat" pitchFamily="34" charset="0"/>
                <a:ea typeface="Montserrat" pitchFamily="34" charset="-122"/>
                <a:cs typeface="Montserrat" pitchFamily="34" charset="-120"/>
              </a:rPr>
              <a:t>#0D132E</a:t>
            </a:r>
            <a:endParaRPr lang="en-US" sz="1050" dirty="0"/>
          </a:p>
        </p:txBody>
      </p:sp>
      <p:sp>
        <p:nvSpPr>
          <p:cNvPr id="15" name="Chip System Blue 85"/>
          <p:cNvSpPr/>
          <p:nvPr/>
        </p:nvSpPr>
        <p:spPr>
          <a:xfrm>
            <a:off x="5120640" y="2999232"/>
            <a:ext cx="457200" cy="256032"/>
          </a:xfrm>
          <a:prstGeom prst="rect">
            <a:avLst/>
          </a:prstGeom>
          <a:solidFill>
            <a:srgbClr val="315BA9"/>
          </a:solidFill>
          <a:ln w="6350">
            <a:solidFill>
              <a:srgbClr val="315BA9"/>
            </a:solidFill>
            <a:prstDash val="solid"/>
          </a:ln>
        </p:spPr>
      </p:sp>
      <p:sp>
        <p:nvSpPr>
          <p:cNvPr id="16" name="Text 86"/>
          <p:cNvSpPr txBox="1"/>
          <p:nvPr/>
        </p:nvSpPr>
        <p:spPr>
          <a:xfrm>
            <a:off x="5715000" y="2999232"/>
            <a:ext cx="2834640" cy="256032"/>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SYSTEM BLUE  </a:t>
            </a:r>
            <a:pPr indent="0" marL="0">
              <a:buNone/>
            </a:pPr>
            <a:r>
              <a:rPr lang="en-US" sz="1050" dirty="0">
                <a:solidFill>
                  <a:schemeClr val="tx1"/>
                </a:solidFill>
                <a:latin typeface="Montserrat" pitchFamily="34" charset="0"/>
                <a:ea typeface="Montserrat" pitchFamily="34" charset="-122"/>
                <a:cs typeface="Montserrat" pitchFamily="34" charset="-120"/>
              </a:rPr>
              <a:t>#315BA9</a:t>
            </a:r>
            <a:endParaRPr lang="en-US" sz="1050" dirty="0"/>
          </a:p>
        </p:txBody>
      </p:sp>
      <p:sp>
        <p:nvSpPr>
          <p:cNvPr id="17" name="Text 87"/>
          <p:cNvSpPr txBox="1"/>
          <p:nvPr/>
        </p:nvSpPr>
        <p:spPr>
          <a:xfrm>
            <a:off x="640080" y="3520440"/>
            <a:ext cx="4572000" cy="201168"/>
          </a:xfrm>
          <a:prstGeom prst="rect">
            <a:avLst/>
          </a:prstGeom>
          <a:noFill/>
          <a:ln/>
        </p:spPr>
        <p:txBody>
          <a:bodyPr wrap="square" lIns="0" tIns="0" rIns="0" bIns="0" rtlCol="0" anchor="t"/>
          <a:lstStyle/>
          <a:p>
            <a:pPr indent="0" marL="0">
              <a:buNone/>
            </a:pPr>
            <a:r>
              <a:rPr lang="en-US" sz="800" b="1" spc="100" kern="0" dirty="0">
                <a:solidFill>
                  <a:schemeClr val="accent2"/>
                </a:solidFill>
                <a:latin typeface="Montserrat" pitchFamily="34" charset="0"/>
                <a:ea typeface="Montserrat" pitchFamily="34" charset="-122"/>
                <a:cs typeface="Montserrat" pitchFamily="34" charset="-120"/>
              </a:rPr>
              <a:t>CORE VALUES</a:t>
            </a:r>
            <a:endParaRPr lang="en-US" sz="800" dirty="0"/>
          </a:p>
        </p:txBody>
      </p:sp>
      <p:sp>
        <p:nvSpPr>
          <p:cNvPr id="18" name="Text 88"/>
          <p:cNvSpPr txBox="1"/>
          <p:nvPr/>
        </p:nvSpPr>
        <p:spPr>
          <a:xfrm>
            <a:off x="640080" y="3730752"/>
            <a:ext cx="4572000" cy="640080"/>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We support each other, contribute to our community, and strive for excellence in all we do.</a:t>
            </a:r>
            <a:endParaRPr lang="en-US" sz="1100" dirty="0"/>
          </a:p>
        </p:txBody>
      </p:sp>
      <p:sp>
        <p:nvSpPr>
          <p:cNvPr id="19" name="Text 89"/>
          <p:cNvSpPr txBox="1"/>
          <p:nvPr/>
        </p:nvSpPr>
        <p:spPr>
          <a:xfrm>
            <a:off x="5577840" y="3520440"/>
            <a:ext cx="2926080" cy="201168"/>
          </a:xfrm>
          <a:prstGeom prst="rect">
            <a:avLst/>
          </a:prstGeom>
          <a:noFill/>
          <a:ln/>
        </p:spPr>
        <p:txBody>
          <a:bodyPr wrap="square" lIns="0" tIns="0" rIns="0" bIns="0" rtlCol="0" anchor="t"/>
          <a:lstStyle/>
          <a:p>
            <a:pPr indent="0" marL="0">
              <a:buNone/>
            </a:pPr>
            <a:r>
              <a:rPr lang="en-US" sz="800" b="1" spc="100" kern="0" dirty="0">
                <a:solidFill>
                  <a:schemeClr val="accent2"/>
                </a:solidFill>
                <a:latin typeface="Montserrat" pitchFamily="34" charset="0"/>
                <a:ea typeface="Montserrat" pitchFamily="34" charset="-122"/>
                <a:cs typeface="Montserrat" pitchFamily="34" charset="-120"/>
              </a:rPr>
              <a:t>LOGO FILES</a:t>
            </a:r>
            <a:endParaRPr lang="en-US" sz="800" dirty="0"/>
          </a:p>
        </p:txBody>
      </p:sp>
      <p:sp>
        <p:nvSpPr>
          <p:cNvPr id="20" name="Text 90"/>
          <p:cNvSpPr txBox="1"/>
          <p:nvPr/>
        </p:nvSpPr>
        <p:spPr>
          <a:xfrm>
            <a:off x="5577840" y="3730752"/>
            <a:ext cx="2926080" cy="320040"/>
          </a:xfrm>
          <a:prstGeom prst="rect">
            <a:avLst/>
          </a:prstGeom>
          <a:noFill/>
          <a:ln/>
        </p:spPr>
        <p:txBody>
          <a:bodyPr wrap="square" lIns="0" tIns="0" rIns="0" bIns="0" rtlCol="0" anchor="t"/>
          <a:lstStyle/>
          <a:p>
            <a:pPr indent="0" marL="0">
              <a:buNone/>
            </a:pPr>
            <a:r>
              <a:rPr lang="en-US" sz="1100" b="1" u="sng" dirty="0">
                <a:solidFill>
                  <a:srgbClr val="315BA9"/>
                </a:solidFill>
                <a:latin typeface="Montserrat" pitchFamily="34" charset="0"/>
                <a:ea typeface="Montserrat" pitchFamily="34" charset="-122"/>
                <a:cs typeface="Montserrat" pitchFamily="34" charset="-120"/>
                <a:hlinkClick r:id="rId1" invalidUrl="" action="" tgtFrame="" tooltip="Open the logo folder" history="1" highlightClick="0" endSnd="0">
                  <a:extLst>
                    <a:ext uri="{A12FA001-AC4F-418D-AE19-62706E023703}">
                      <ahyp:hlinkClr xmlns:ahyp="http://schemas.microsoft.com/office/drawing/2018/hyperlinkcolor" val="tx"/>
                    </a:ext>
                  </a:extLst>
                </a:hlinkClick>
              </a:rPr>
              <a:t>All PNGs in Google Drive</a:t>
            </a:r>
            <a:endParaRPr lang="en-US" sz="1100" dirty="0"/>
          </a:p>
        </p:txBody>
      </p:sp>
      <p:sp>
        <p:nvSpPr>
          <p:cNvPr id="25" name="Slide Number Placeholder 0"/>
          <p:cNvSpPr>
            <a:spLocks noGrp="1"/>
          </p:cNvSpPr>
          <p:nvPr>
            <p:ph type="sldNum" sz="quarter" idx="4294967295"/>
          </p:nvPr>
        </p:nvSpPr>
        <p:spPr>
          <a:xfrm>
            <a:off x="8229600" y="4690872"/>
            <a:ext cx="457200" cy="237744"/>
          </a:xfrm>
          <a:prstGeom prst="rect">
            <a:avLst/>
          </a:prstGeom>
          <a:extLst>
            <a:ext uri="{C572A759-6A51-4108-AA02-DFA0A04FC94B}">
              <ma14:wrappingTextBoxFlag xmlns:ma14="http://schemas.microsoft.com/office/mac/drawingml/2011/main" val="0"/>
            </a:ext>
          </a:extLst>
        </p:spPr>
        <p:txBody>
          <a:bodyPr/>
          <a:lstStyle>
            <a:lvl1pPr>
              <a:defRPr sz="800">
                <a:solidFill>
                  <a:srgbClr val="C3CEDB"/>
                </a:solidFill>
                <a:latin typeface="Montserrat"/>
                <a:ea typeface="Montserrat"/>
                <a:cs typeface="Montserrat"/>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SSCS Proposed Brand Guide">
  <a:themeElements>
    <a:clrScheme name="SSCS Proposed Brand Guide">
      <a:dk1>
        <a:srgbClr val="0D132E"/>
      </a:dk1>
      <a:lt1>
        <a:srgbClr val="FFFFFF"/>
      </a:lt1>
      <a:dk2>
        <a:srgbClr val="012F63"/>
      </a:dk2>
      <a:lt2>
        <a:srgbClr val="EEF2F7"/>
      </a:lt2>
      <a:accent1>
        <a:srgbClr val="012F63"/>
      </a:accent1>
      <a:accent2>
        <a:srgbClr val="DA152C"/>
      </a:accent2>
      <a:accent3>
        <a:srgbClr val="315BA9"/>
      </a:accent3>
      <a:accent4>
        <a:srgbClr val="56657A"/>
      </a:accent4>
      <a:accent5>
        <a:srgbClr val="C3CEDB"/>
      </a:accent5>
      <a:accent6>
        <a:srgbClr val="BEBEBE"/>
      </a:accent6>
      <a:hlink>
        <a:srgbClr val="315BA9"/>
      </a:hlink>
      <a:folHlink>
        <a:srgbClr val="56657A"/>
      </a:folHlink>
    </a:clrScheme>
    <a:fontScheme name="SSCS Proposed Brand Guid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Seminole Science Charter School: Proposed Brand Guide</dc:title>
  <dc:subject>PptxGenJS Presentation</dc:subject>
  <dc:creator>Tim Livingston</dc:creator>
  <cp:lastModifiedBy>Tim Livingston</cp:lastModifiedBy>
  <cp:revision>1</cp:revision>
  <dcterms:created xsi:type="dcterms:W3CDTF">2026-10-06T05:23:45Z</dcterms:created>
  <dcterms:modified xsi:type="dcterms:W3CDTF">2026-10-06T05:23:45Z</dcterms:modified>
</cp:coreProperties>
</file>